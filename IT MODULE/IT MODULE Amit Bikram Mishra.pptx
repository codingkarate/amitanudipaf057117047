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59" d="100"/>
          <a:sy n="59" d="100"/>
        </p:scale>
        <p:origin x="1500" y="5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942416" y="2514601"/>
            <a:ext cx="6600451"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1942416" y="4777380"/>
            <a:ext cx="6600451"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2/26/2026</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8"/>
          <p:cNvSpPr/>
          <p:nvPr/>
        </p:nvSpPr>
        <p:spPr bwMode="auto">
          <a:xfrm>
            <a:off x="-31719" y="4321158"/>
            <a:ext cx="1395473" cy="781781"/>
          </a:xfrm>
          <a:custGeom>
            <a:avLst/>
            <a:gdLst/>
            <a:ahLst/>
            <a:cxnLst/>
            <a:rect l="l" t="t" r="r" b="b"/>
            <a:pathLst>
              <a:path w="8042" h="10000">
                <a:moveTo>
                  <a:pt x="5799" y="10000"/>
                </a:moveTo>
                <a:cubicBezTo>
                  <a:pt x="5880" y="10000"/>
                  <a:pt x="5934" y="9940"/>
                  <a:pt x="5961" y="9880"/>
                </a:cubicBezTo>
                <a:cubicBezTo>
                  <a:pt x="5961" y="9820"/>
                  <a:pt x="5988" y="9820"/>
                  <a:pt x="5988" y="9820"/>
                </a:cubicBezTo>
                <a:lnTo>
                  <a:pt x="8042" y="5260"/>
                </a:lnTo>
                <a:cubicBezTo>
                  <a:pt x="8096" y="5140"/>
                  <a:pt x="8096" y="4901"/>
                  <a:pt x="8042" y="4721"/>
                </a:cubicBezTo>
                <a:lnTo>
                  <a:pt x="5988" y="221"/>
                </a:lnTo>
                <a:cubicBezTo>
                  <a:pt x="5988" y="160"/>
                  <a:pt x="5961" y="160"/>
                  <a:pt x="5961" y="160"/>
                </a:cubicBezTo>
                <a:cubicBezTo>
                  <a:pt x="5934" y="101"/>
                  <a:pt x="5880" y="41"/>
                  <a:pt x="5799" y="41"/>
                </a:cubicBezTo>
                <a:lnTo>
                  <a:pt x="18" y="0"/>
                </a:lnTo>
                <a:cubicBezTo>
                  <a:pt x="12" y="3330"/>
                  <a:pt x="6" y="6661"/>
                  <a:pt x="0" y="9991"/>
                </a:cubicBezTo>
                <a:lnTo>
                  <a:pt x="5799" y="10000"/>
                </a:lnTo>
                <a:close/>
              </a:path>
            </a:pathLst>
          </a:custGeom>
          <a:solidFill>
            <a:schemeClr val="accent1"/>
          </a:solidFill>
          <a:ln>
            <a:noFill/>
          </a:ln>
        </p:spPr>
      </p:sp>
      <p:sp>
        <p:nvSpPr>
          <p:cNvPr id="6" name="Slide Number Placeholder 5"/>
          <p:cNvSpPr>
            <a:spLocks noGrp="1"/>
          </p:cNvSpPr>
          <p:nvPr>
            <p:ph type="sldNum" sz="quarter" idx="12"/>
          </p:nvPr>
        </p:nvSpPr>
        <p:spPr>
          <a:xfrm>
            <a:off x="423334" y="4529541"/>
            <a:ext cx="584978"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006564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945201" y="624110"/>
            <a:ext cx="6589199"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1942415" y="2133600"/>
            <a:ext cx="6591985"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2/26/2026</a:t>
            </a:fld>
            <a:endParaRPr lang="en-US"/>
          </a:p>
        </p:txBody>
      </p:sp>
      <p:sp>
        <p:nvSpPr>
          <p:cNvPr id="5" name="Footer Placeholder 4"/>
          <p:cNvSpPr>
            <a:spLocks noGrp="1"/>
          </p:cNvSpPr>
          <p:nvPr>
            <p:ph type="ftr" sz="quarter" idx="11"/>
          </p:nvPr>
        </p:nvSpPr>
        <p:spPr/>
        <p:txBody>
          <a:bodyPr/>
          <a:lstStyle/>
          <a:p>
            <a:endParaRPr lang="en-US"/>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432623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942415" y="2074562"/>
            <a:ext cx="6591985"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942415" y="3581400"/>
            <a:ext cx="6591985"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2/26/2026</a:t>
            </a:fld>
            <a:endParaRPr lang="en-US"/>
          </a:p>
        </p:txBody>
      </p:sp>
      <p:sp>
        <p:nvSpPr>
          <p:cNvPr id="5" name="Footer Placeholder 4"/>
          <p:cNvSpPr>
            <a:spLocks noGrp="1"/>
          </p:cNvSpPr>
          <p:nvPr>
            <p:ph type="ftr" sz="quarter" idx="11"/>
          </p:nvPr>
        </p:nvSpPr>
        <p:spPr/>
        <p:txBody>
          <a:bodyPr/>
          <a:lstStyle/>
          <a:p>
            <a:endParaRPr lang="en-US"/>
          </a:p>
        </p:txBody>
      </p:sp>
      <p:sp>
        <p:nvSpPr>
          <p:cNvPr id="11" name="Freeform 11"/>
          <p:cNvSpPr/>
          <p:nvPr/>
        </p:nvSpPr>
        <p:spPr bwMode="auto">
          <a:xfrm flipV="1">
            <a:off x="58" y="3166527"/>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11228" y="3244140"/>
            <a:ext cx="584978"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1677890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942416" y="2136706"/>
            <a:ext cx="3197531" cy="376739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337307" y="2136706"/>
            <a:ext cx="3197093" cy="376739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2/26/2026</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10" name="Slide Number Placeholder 5"/>
          <p:cNvSpPr>
            <a:spLocks noGrp="1"/>
          </p:cNvSpPr>
          <p:nvPr>
            <p:ph type="sldNum" sz="quarter" idx="12"/>
          </p:nvPr>
        </p:nvSpPr>
        <p:spPr>
          <a:xfrm>
            <a:off x="511228" y="787783"/>
            <a:ext cx="584978"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7409761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265352" y="2226626"/>
            <a:ext cx="2874596"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942415" y="2802888"/>
            <a:ext cx="3197532" cy="310570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6154" y="2223398"/>
            <a:ext cx="2873239"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333715" y="2799660"/>
            <a:ext cx="3195680" cy="310570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2/26/2026</a:t>
            </a:fld>
            <a:endParaRPr lang="en-US"/>
          </a:p>
        </p:txBody>
      </p:sp>
      <p:sp>
        <p:nvSpPr>
          <p:cNvPr id="8" name="Footer Placeholder 7"/>
          <p:cNvSpPr>
            <a:spLocks noGrp="1"/>
          </p:cNvSpPr>
          <p:nvPr>
            <p:ph type="ftr" sz="quarter" idx="11"/>
          </p:nvPr>
        </p:nvSpPr>
        <p:spPr/>
        <p:txBody>
          <a:bodyPr/>
          <a:lstStyle/>
          <a:p>
            <a:endParaRPr lang="en-US"/>
          </a:p>
        </p:txBody>
      </p:sp>
      <p:sp>
        <p:nvSpPr>
          <p:cNvPr id="11"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12" name="Slide Number Placeholder 5"/>
          <p:cNvSpPr>
            <a:spLocks noGrp="1"/>
          </p:cNvSpPr>
          <p:nvPr>
            <p:ph type="sldNum" sz="quarter" idx="12"/>
          </p:nvPr>
        </p:nvSpPr>
        <p:spPr>
          <a:xfrm>
            <a:off x="511228" y="787783"/>
            <a:ext cx="584978"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488757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1945200" y="624110"/>
            <a:ext cx="6589200" cy="128089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2/26/2026</a:t>
            </a:fld>
            <a:endParaRPr lang="en-US"/>
          </a:p>
        </p:txBody>
      </p:sp>
      <p:sp>
        <p:nvSpPr>
          <p:cNvPr id="4" name="Footer Placeholder 3"/>
          <p:cNvSpPr>
            <a:spLocks noGrp="1"/>
          </p:cNvSpPr>
          <p:nvPr>
            <p:ph type="ftr" sz="quarter" idx="11"/>
          </p:nvPr>
        </p:nvSpPr>
        <p:spPr/>
        <p:txBody>
          <a:bodyPr/>
          <a:lstStyle/>
          <a:p>
            <a:endParaRPr lang="en-US"/>
          </a:p>
        </p:txBody>
      </p:sp>
      <p:sp>
        <p:nvSpPr>
          <p:cNvPr id="8"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41883857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2/26/2026</a:t>
            </a:fld>
            <a:endParaRPr lang="en-US"/>
          </a:p>
        </p:txBody>
      </p:sp>
      <p:sp>
        <p:nvSpPr>
          <p:cNvPr id="3" name="Footer Placeholder 2"/>
          <p:cNvSpPr>
            <a:spLocks noGrp="1"/>
          </p:cNvSpPr>
          <p:nvPr>
            <p:ph type="ftr" sz="quarter" idx="11"/>
          </p:nvPr>
        </p:nvSpPr>
        <p:spPr/>
        <p:txBody>
          <a:bodyPr/>
          <a:lstStyle/>
          <a:p>
            <a:endParaRPr lang="en-US"/>
          </a:p>
        </p:txBody>
      </p:sp>
      <p:sp>
        <p:nvSpPr>
          <p:cNvPr id="6"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5940111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42415" y="446088"/>
            <a:ext cx="2629584"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4743494" y="446089"/>
            <a:ext cx="3790906"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942415" y="1598613"/>
            <a:ext cx="2629584"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2/26/2026</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983487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42415" y="4800600"/>
            <a:ext cx="6591985"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942415" y="634965"/>
            <a:ext cx="6591985"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942415" y="5367338"/>
            <a:ext cx="6591985"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2/26/2026</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601344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942415" y="609600"/>
            <a:ext cx="6591985"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1942415" y="4354046"/>
            <a:ext cx="6591985"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2/26/2026</a:t>
            </a:fld>
            <a:endParaRPr lang="en-US"/>
          </a:p>
        </p:txBody>
      </p:sp>
      <p:sp>
        <p:nvSpPr>
          <p:cNvPr id="5" name="Footer Placeholder 4"/>
          <p:cNvSpPr>
            <a:spLocks noGrp="1"/>
          </p:cNvSpPr>
          <p:nvPr>
            <p:ph type="ftr" sz="quarter" idx="11"/>
          </p:nvPr>
        </p:nvSpPr>
        <p:spPr/>
        <p:txBody>
          <a:bodyPr/>
          <a:lstStyle/>
          <a:p>
            <a:endParaRPr lang="en-US"/>
          </a:p>
        </p:txBody>
      </p:sp>
      <p:sp>
        <p:nvSpPr>
          <p:cNvPr id="10" name="Freeform 11"/>
          <p:cNvSpPr/>
          <p:nvPr/>
        </p:nvSpPr>
        <p:spPr bwMode="auto">
          <a:xfrm flipV="1">
            <a:off x="58" y="3166527"/>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11228" y="3244140"/>
            <a:ext cx="584978"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74611424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88123" y="609600"/>
            <a:ext cx="6109587"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2415972" y="3505200"/>
            <a:ext cx="5653888"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942415" y="4354046"/>
            <a:ext cx="6591985"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2/26/2026</a:t>
            </a:fld>
            <a:endParaRPr lang="en-US"/>
          </a:p>
        </p:txBody>
      </p:sp>
      <p:sp>
        <p:nvSpPr>
          <p:cNvPr id="5" name="Footer Placeholder 4"/>
          <p:cNvSpPr>
            <a:spLocks noGrp="1"/>
          </p:cNvSpPr>
          <p:nvPr>
            <p:ph type="ftr" sz="quarter" idx="11"/>
          </p:nvPr>
        </p:nvSpPr>
        <p:spPr/>
        <p:txBody>
          <a:bodyPr/>
          <a:lstStyle/>
          <a:p>
            <a:endParaRPr lang="en-US"/>
          </a:p>
        </p:txBody>
      </p:sp>
      <p:sp>
        <p:nvSpPr>
          <p:cNvPr id="19" name="Freeform 11"/>
          <p:cNvSpPr/>
          <p:nvPr/>
        </p:nvSpPr>
        <p:spPr bwMode="auto">
          <a:xfrm flipV="1">
            <a:off x="58" y="3166527"/>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a:xfrm>
            <a:off x="511228" y="3244140"/>
            <a:ext cx="584978" cy="365125"/>
          </a:xfrm>
        </p:spPr>
        <p:txBody>
          <a:bodyPr/>
          <a:lstStyle/>
          <a:p>
            <a:fld id="{C1FF6DA9-008F-8B48-92A6-B652298478BF}" type="slidenum">
              <a:rPr lang="en-US" smtClean="0"/>
              <a:t>‹#›</a:t>
            </a:fld>
            <a:endParaRPr lang="en-US"/>
          </a:p>
        </p:txBody>
      </p:sp>
      <p:sp>
        <p:nvSpPr>
          <p:cNvPr id="14" name="TextBox 13"/>
          <p:cNvSpPr txBox="1"/>
          <p:nvPr/>
        </p:nvSpPr>
        <p:spPr>
          <a:xfrm>
            <a:off x="1808316" y="648005"/>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8169533" y="290530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1354892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942415" y="2438401"/>
            <a:ext cx="6591985"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1942415" y="5181600"/>
            <a:ext cx="6591985"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2/26/2026</a:t>
            </a:fld>
            <a:endParaRPr lang="en-US"/>
          </a:p>
        </p:txBody>
      </p:sp>
      <p:sp>
        <p:nvSpPr>
          <p:cNvPr id="6" name="Footer Placeholder 5"/>
          <p:cNvSpPr>
            <a:spLocks noGrp="1"/>
          </p:cNvSpPr>
          <p:nvPr>
            <p:ph type="ftr" sz="quarter" idx="11"/>
          </p:nvPr>
        </p:nvSpPr>
        <p:spPr/>
        <p:txBody>
          <a:bodyPr/>
          <a:lstStyle/>
          <a:p>
            <a:endParaRPr lang="en-US"/>
          </a:p>
        </p:txBody>
      </p:sp>
      <p:sp>
        <p:nvSpPr>
          <p:cNvPr id="11"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20404767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3" name="Title 1"/>
          <p:cNvSpPr>
            <a:spLocks noGrp="1"/>
          </p:cNvSpPr>
          <p:nvPr>
            <p:ph type="title"/>
          </p:nvPr>
        </p:nvSpPr>
        <p:spPr>
          <a:xfrm>
            <a:off x="2188123" y="609600"/>
            <a:ext cx="6109587"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1942415" y="4343400"/>
            <a:ext cx="6688292"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1942415" y="5181600"/>
            <a:ext cx="6688292"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2/26/2026</a:t>
            </a:fld>
            <a:endParaRPr lang="en-US"/>
          </a:p>
        </p:txBody>
      </p:sp>
      <p:sp>
        <p:nvSpPr>
          <p:cNvPr id="6" name="Footer Placeholder 5"/>
          <p:cNvSpPr>
            <a:spLocks noGrp="1"/>
          </p:cNvSpPr>
          <p:nvPr>
            <p:ph type="ftr" sz="quarter" idx="11"/>
          </p:nvPr>
        </p:nvSpPr>
        <p:spPr/>
        <p:txBody>
          <a:bodyPr/>
          <a:lstStyle/>
          <a:p>
            <a:endParaRPr lang="en-US"/>
          </a:p>
        </p:txBody>
      </p:sp>
      <p:sp>
        <p:nvSpPr>
          <p:cNvPr id="20"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C1FF6DA9-008F-8B48-92A6-B652298478BF}" type="slidenum">
              <a:rPr lang="en-US" smtClean="0"/>
              <a:t>‹#›</a:t>
            </a:fld>
            <a:endParaRPr lang="en-US"/>
          </a:p>
        </p:txBody>
      </p:sp>
      <p:sp>
        <p:nvSpPr>
          <p:cNvPr id="11" name="TextBox 10"/>
          <p:cNvSpPr txBox="1"/>
          <p:nvPr/>
        </p:nvSpPr>
        <p:spPr>
          <a:xfrm>
            <a:off x="1808316" y="648005"/>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2" name="TextBox 11"/>
          <p:cNvSpPr txBox="1"/>
          <p:nvPr/>
        </p:nvSpPr>
        <p:spPr>
          <a:xfrm>
            <a:off x="8169533" y="290530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4110465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942416" y="627407"/>
            <a:ext cx="6591984"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1942415" y="4343400"/>
            <a:ext cx="6591985"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1942415" y="5181600"/>
            <a:ext cx="6591985"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2/26/2026</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58" y="4910660"/>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7" name="Slide Number Placeholder 6"/>
          <p:cNvSpPr>
            <a:spLocks noGrp="1"/>
          </p:cNvSpPr>
          <p:nvPr>
            <p:ph type="sldNum" sz="quarter" idx="12"/>
          </p:nvPr>
        </p:nvSpPr>
        <p:spPr>
          <a:xfrm>
            <a:off x="511228" y="4983088"/>
            <a:ext cx="584978" cy="365125"/>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05558263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2/26/2026</a:t>
            </a:fld>
            <a:endParaRPr lang="en-US"/>
          </a:p>
        </p:txBody>
      </p:sp>
      <p:sp>
        <p:nvSpPr>
          <p:cNvPr id="5" name="Footer Placeholder 4"/>
          <p:cNvSpPr>
            <a:spLocks noGrp="1"/>
          </p:cNvSpPr>
          <p:nvPr>
            <p:ph type="ftr" sz="quarter" idx="11"/>
          </p:nvPr>
        </p:nvSpPr>
        <p:spPr/>
        <p:txBody>
          <a:bodyPr/>
          <a:lstStyle/>
          <a:p>
            <a:endParaRPr lang="en-US"/>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33269873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78535" y="627406"/>
            <a:ext cx="1656132"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1942416" y="627406"/>
            <a:ext cx="4716348"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2/26/2026</a:t>
            </a:fld>
            <a:endParaRPr lang="en-US"/>
          </a:p>
        </p:txBody>
      </p:sp>
      <p:sp>
        <p:nvSpPr>
          <p:cNvPr id="5" name="Footer Placeholder 4"/>
          <p:cNvSpPr>
            <a:spLocks noGrp="1"/>
          </p:cNvSpPr>
          <p:nvPr>
            <p:ph type="ftr" sz="quarter" idx="11"/>
          </p:nvPr>
        </p:nvSpPr>
        <p:spPr/>
        <p:txBody>
          <a:bodyPr/>
          <a:lstStyle/>
          <a:p>
            <a:endParaRPr lang="en-US"/>
          </a:p>
        </p:txBody>
      </p:sp>
      <p:sp>
        <p:nvSpPr>
          <p:cNvPr id="10" name="Freeform 11"/>
          <p:cNvSpPr/>
          <p:nvPr/>
        </p:nvSpPr>
        <p:spPr bwMode="auto">
          <a:xfrm flipV="1">
            <a:off x="58" y="711194"/>
            <a:ext cx="1358356" cy="508005"/>
          </a:xfrm>
          <a:custGeom>
            <a:avLst/>
            <a:gdLst/>
            <a:ahLst/>
            <a:cxnLst/>
            <a:rect l="l" t="t" r="r" b="b"/>
            <a:pathLst>
              <a:path w="7908" h="10000">
                <a:moveTo>
                  <a:pt x="7908" y="4694"/>
                </a:moveTo>
                <a:lnTo>
                  <a:pt x="6575" y="188"/>
                </a:lnTo>
                <a:cubicBezTo>
                  <a:pt x="6566" y="157"/>
                  <a:pt x="6555" y="125"/>
                  <a:pt x="6546" y="94"/>
                </a:cubicBezTo>
                <a:cubicBezTo>
                  <a:pt x="6519" y="0"/>
                  <a:pt x="6491" y="0"/>
                  <a:pt x="6463" y="0"/>
                </a:cubicBezTo>
                <a:lnTo>
                  <a:pt x="5935" y="0"/>
                </a:lnTo>
                <a:lnTo>
                  <a:pt x="0" y="62"/>
                </a:lnTo>
                <a:lnTo>
                  <a:pt x="0" y="10000"/>
                </a:lnTo>
                <a:lnTo>
                  <a:pt x="5935" y="9952"/>
                </a:lnTo>
                <a:lnTo>
                  <a:pt x="6463" y="9952"/>
                </a:lnTo>
                <a:cubicBezTo>
                  <a:pt x="6491" y="9952"/>
                  <a:pt x="6519" y="9859"/>
                  <a:pt x="6546" y="9859"/>
                </a:cubicBezTo>
                <a:cubicBezTo>
                  <a:pt x="6546" y="9764"/>
                  <a:pt x="6575" y="9764"/>
                  <a:pt x="6575" y="9764"/>
                </a:cubicBezTo>
                <a:lnTo>
                  <a:pt x="7908" y="5258"/>
                </a:lnTo>
                <a:cubicBezTo>
                  <a:pt x="7963" y="5070"/>
                  <a:pt x="7963" y="4883"/>
                  <a:pt x="7908" y="4694"/>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997013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36" name="Group 35"/>
          <p:cNvGrpSpPr/>
          <p:nvPr/>
        </p:nvGrpSpPr>
        <p:grpSpPr>
          <a:xfrm>
            <a:off x="1" y="228600"/>
            <a:ext cx="1981200" cy="6638628"/>
            <a:chOff x="2487613" y="285750"/>
            <a:chExt cx="2428875" cy="5654676"/>
          </a:xfrm>
        </p:grpSpPr>
        <p:sp>
          <p:nvSpPr>
            <p:cNvPr id="37"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38"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39"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40"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41"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42"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43"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44"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45"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46"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47"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48"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49" name="Group 48"/>
          <p:cNvGrpSpPr/>
          <p:nvPr/>
        </p:nvGrpSpPr>
        <p:grpSpPr>
          <a:xfrm>
            <a:off x="20421" y="285"/>
            <a:ext cx="1952272" cy="6852968"/>
            <a:chOff x="6627813" y="195717"/>
            <a:chExt cx="1952625" cy="5678034"/>
          </a:xfrm>
        </p:grpSpPr>
        <p:sp>
          <p:nvSpPr>
            <p:cNvPr id="50" name="Freeform 27"/>
            <p:cNvSpPr/>
            <p:nvPr/>
          </p:nvSpPr>
          <p:spPr bwMode="auto">
            <a:xfrm>
              <a:off x="6627813" y="195717"/>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51"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52"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53"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54"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55"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56"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57"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58"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59"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60"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61"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62" name="Rectangle 61"/>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1945200" y="624110"/>
            <a:ext cx="6589200"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942415" y="2133600"/>
            <a:ext cx="6591985"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772400" y="6135089"/>
            <a:ext cx="766380" cy="370171"/>
          </a:xfrm>
          <a:prstGeom prst="rect">
            <a:avLst/>
          </a:prstGeom>
        </p:spPr>
        <p:txBody>
          <a:bodyPr vert="horz" lIns="91440" tIns="45720" rIns="91440" bIns="45720" rtlCol="0" anchor="ctr"/>
          <a:lstStyle>
            <a:lvl1pPr algn="r">
              <a:defRPr sz="900">
                <a:solidFill>
                  <a:schemeClr val="tx1">
                    <a:tint val="75000"/>
                  </a:schemeClr>
                </a:solidFill>
              </a:defRPr>
            </a:lvl1pPr>
          </a:lstStyle>
          <a:p>
            <a:fld id="{5BCAD085-E8A6-8845-BD4E-CB4CCA059FC4}" type="datetimeFigureOut">
              <a:rPr lang="en-US" smtClean="0"/>
              <a:t>2/26/2026</a:t>
            </a:fld>
            <a:endParaRPr lang="en-US"/>
          </a:p>
        </p:txBody>
      </p:sp>
      <p:sp>
        <p:nvSpPr>
          <p:cNvPr id="5" name="Footer Placeholder 4"/>
          <p:cNvSpPr>
            <a:spLocks noGrp="1"/>
          </p:cNvSpPr>
          <p:nvPr>
            <p:ph type="ftr" sz="quarter" idx="3"/>
          </p:nvPr>
        </p:nvSpPr>
        <p:spPr>
          <a:xfrm>
            <a:off x="1942415" y="6135809"/>
            <a:ext cx="5716488"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bwMode="gray">
          <a:xfrm>
            <a:off x="511228" y="787783"/>
            <a:ext cx="584978" cy="365125"/>
          </a:xfrm>
          <a:prstGeom prst="rect">
            <a:avLst/>
          </a:prstGeom>
        </p:spPr>
        <p:txBody>
          <a:bodyPr vert="horz" lIns="91440" tIns="45720" rIns="91440" bIns="45720" rtlCol="0" anchor="ctr"/>
          <a:lstStyle>
            <a:lvl1pPr algn="r">
              <a:defRPr sz="2000">
                <a:solidFill>
                  <a:srgbClr val="FEFFFF"/>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400634164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451305"/>
            <a:ext cx="8229600" cy="1143000"/>
          </a:xfrm>
        </p:spPr>
        <p:txBody>
          <a:bodyPr>
            <a:normAutofit fontScale="90000"/>
          </a:bodyPr>
          <a:lstStyle/>
          <a:p>
            <a:pPr algn="ctr"/>
            <a:r>
              <a:rPr b="1" dirty="0"/>
              <a:t>The Intersection of Information Technology, Data Strategy, and Business Analysis</a:t>
            </a:r>
          </a:p>
        </p:txBody>
      </p:sp>
      <p:sp>
        <p:nvSpPr>
          <p:cNvPr id="3" name="Content Placeholder 2"/>
          <p:cNvSpPr>
            <a:spLocks noGrp="1"/>
          </p:cNvSpPr>
          <p:nvPr>
            <p:ph idx="1"/>
          </p:nvPr>
        </p:nvSpPr>
        <p:spPr>
          <a:xfrm>
            <a:off x="359229" y="2057399"/>
            <a:ext cx="8229600" cy="4525963"/>
          </a:xfrm>
        </p:spPr>
        <p:txBody>
          <a:bodyPr>
            <a:normAutofit/>
          </a:bodyPr>
          <a:lstStyle/>
          <a:p>
            <a:endParaRPr sz="2000" dirty="0"/>
          </a:p>
          <a:p>
            <a:r>
              <a:rPr sz="2000" dirty="0"/>
              <a:t>Presented by: Amit Bikram Mishra</a:t>
            </a:r>
          </a:p>
          <a:p>
            <a:endParaRPr sz="2000" dirty="0"/>
          </a:p>
          <a:p>
            <a:r>
              <a:rPr sz="2000" dirty="0"/>
              <a:t>Date: February 2026</a:t>
            </a:r>
          </a:p>
          <a:p>
            <a:endParaRPr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Fundamentals of IT (Part A: The Infrastructure)</a:t>
            </a:r>
          </a:p>
        </p:txBody>
      </p:sp>
      <p:sp>
        <p:nvSpPr>
          <p:cNvPr id="3" name="Content Placeholder 2"/>
          <p:cNvSpPr>
            <a:spLocks noGrp="1"/>
          </p:cNvSpPr>
          <p:nvPr>
            <p:ph idx="1"/>
          </p:nvPr>
        </p:nvSpPr>
        <p:spPr/>
        <p:txBody>
          <a:bodyPr/>
          <a:lstStyle/>
          <a:p>
            <a:r>
              <a:t>Information Technology (IT) is the backbone of the modern digital world. It encompasses the study, design, development, and implementation of computer-based information systems. At its core, IT involves hardware—the physical components like servers, routers, and end-user devices—and software, which includes the operating systems and applications that make hardware functional. Without these foundational elements, the global exchange of data would be impossible, halting the progress of industries ranging from finance to healthcare.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Fundamentals of IT (Part B: Networking &amp; Data)</a:t>
            </a:r>
          </a:p>
        </p:txBody>
      </p:sp>
      <p:sp>
        <p:nvSpPr>
          <p:cNvPr id="3" name="Content Placeholder 2"/>
          <p:cNvSpPr>
            <a:spLocks noGrp="1"/>
          </p:cNvSpPr>
          <p:nvPr>
            <p:ph idx="1"/>
          </p:nvPr>
        </p:nvSpPr>
        <p:spPr/>
        <p:txBody>
          <a:bodyPr/>
          <a:lstStyle/>
          <a:p>
            <a:r>
              <a:t>Beyond physical hardware, IT fundamentals include networking and data management. Networking allows individual computers to communicate via the Internet, Intranets, and Cloud protocols. Data management involves the systematic organization of information in databases to ensure it can be retrieved efficiently. In the 2026 landscape, the focus has shifted toward "Edge Computing" and "Cybersecurity," ensuring that the fundamental IT stack is not only fast and accessible but also resilient against evolving global cyber threats.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dirty="0"/>
              <a:t>Role of IT in Business Operations (Part A: Efficiency)</a:t>
            </a:r>
          </a:p>
        </p:txBody>
      </p:sp>
      <p:sp>
        <p:nvSpPr>
          <p:cNvPr id="3" name="Content Placeholder 2"/>
          <p:cNvSpPr>
            <a:spLocks noGrp="1"/>
          </p:cNvSpPr>
          <p:nvPr>
            <p:ph idx="1"/>
          </p:nvPr>
        </p:nvSpPr>
        <p:spPr/>
        <p:txBody>
          <a:bodyPr/>
          <a:lstStyle/>
          <a:p>
            <a:r>
              <a:t>The primary role of IT in business operations is the enhancement of operational efficiency. By automating manual processes—such as payroll, inventory tracking, and customer billing—businesses can drastically reduce the margin for human error. IT systems allow for real-time monitoring of supply chains, ensuring that resources are allocated where they are needed most. This automation frees up human capital to focus on high-level creative and strategic tasks rather than repetitive administrative work.</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dirty="0"/>
              <a:t>Role of IT in Business Operations (Part B: Collaboration)</a:t>
            </a:r>
          </a:p>
        </p:txBody>
      </p:sp>
      <p:sp>
        <p:nvSpPr>
          <p:cNvPr id="3" name="Content Placeholder 2"/>
          <p:cNvSpPr>
            <a:spLocks noGrp="1"/>
          </p:cNvSpPr>
          <p:nvPr>
            <p:ph idx="1"/>
          </p:nvPr>
        </p:nvSpPr>
        <p:spPr/>
        <p:txBody>
          <a:bodyPr/>
          <a:lstStyle/>
          <a:p>
            <a:r>
              <a:t>In the modern workplace, IT serves as the ultimate facilitator of collaboration. Through unified communication platforms, cloud-based document sharing, and project management software, teams can work together synchronously regardless of their geographical location. This role is vital for maintaining business continuity in a globalized market. Furthermore, IT provides the infrastructure for customer support through chatbots and CRM systems, ensuring that the business remains responsive to its clientele 24/7.</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Business Systems: ERP (Part A)</a:t>
            </a:r>
          </a:p>
        </p:txBody>
      </p:sp>
      <p:sp>
        <p:nvSpPr>
          <p:cNvPr id="3" name="Content Placeholder 2"/>
          <p:cNvSpPr>
            <a:spLocks noGrp="1"/>
          </p:cNvSpPr>
          <p:nvPr>
            <p:ph idx="1"/>
          </p:nvPr>
        </p:nvSpPr>
        <p:spPr/>
        <p:txBody>
          <a:bodyPr/>
          <a:lstStyle/>
          <a:p>
            <a:r>
              <a:t>Enterprise Resource Planning (ERP) systems are comprehensive software platforms used by organizations to manage and integrate the essential parts of their businesses. An ERP software integrates functions like planning, purchasing, inventory, sales, marketing, finance, and human resources into a single provider. By consolidating these disparate functions, an ERP system eliminates "data silos," ensuring that the finance department sees the same sales numbers as the marketing team, leading to a unified organizational truth.</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Business Systems: CRM (Part B)</a:t>
            </a:r>
          </a:p>
        </p:txBody>
      </p:sp>
      <p:sp>
        <p:nvSpPr>
          <p:cNvPr id="3" name="Content Placeholder 2"/>
          <p:cNvSpPr>
            <a:spLocks noGrp="1"/>
          </p:cNvSpPr>
          <p:nvPr>
            <p:ph idx="1"/>
          </p:nvPr>
        </p:nvSpPr>
        <p:spPr/>
        <p:txBody>
          <a:bodyPr/>
          <a:lstStyle/>
          <a:p>
            <a:r>
              <a:t>Customer Relationship Management (CRM) systems focus specifically on the external interactions of a business. A CRM system helps organizations streamline processes, build customer relationships, increase sales, and improve customer service. It tracks every interaction a customer has with the brand, from the first website click to the latest support ticket. By analyzing this data, businesses can personalize their marketing efforts and predict future customer needs, which is essential for maintaining long-term loyalty in a competitive market.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IT and Business Strategy (Part A: Alignment)</a:t>
            </a:r>
          </a:p>
        </p:txBody>
      </p:sp>
      <p:sp>
        <p:nvSpPr>
          <p:cNvPr id="3" name="Content Placeholder 2"/>
          <p:cNvSpPr>
            <a:spLocks noGrp="1"/>
          </p:cNvSpPr>
          <p:nvPr>
            <p:ph idx="1"/>
          </p:nvPr>
        </p:nvSpPr>
        <p:spPr/>
        <p:txBody>
          <a:bodyPr/>
          <a:lstStyle/>
          <a:p>
            <a:r>
              <a:t>The interplay between IT and business strategy is defined by "Strategic Alignment." This means that the IT department is not just a support desk, but a partner in achieving the company's long-term goals. For instance, if a company’s strategy is to be the low-cost leader in their market, the IT strategy must focus on extreme automation and cost-cutting infrastructure. If the goal is innovation, the IT department must prioritize research into AI, machine learning, and rapid prototyping technologies.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dirty="0"/>
              <a:t>IT and Business Strategy (Part B: Digital Transformation)</a:t>
            </a:r>
          </a:p>
        </p:txBody>
      </p:sp>
      <p:sp>
        <p:nvSpPr>
          <p:cNvPr id="3" name="Content Placeholder 2"/>
          <p:cNvSpPr>
            <a:spLocks noGrp="1"/>
          </p:cNvSpPr>
          <p:nvPr>
            <p:ph idx="1"/>
          </p:nvPr>
        </p:nvSpPr>
        <p:spPr/>
        <p:txBody>
          <a:bodyPr/>
          <a:lstStyle/>
          <a:p>
            <a:r>
              <a:t>Digital transformation is the process by which a business uses technology to create new—or modify existing—business processes, culture, and customer experiences to meet changing market requirements. This reimagining of business in the digital age is the ultimate expression of IT-Business interplay. It requires a shift in mindset from "how do we use this computer?" to "how can this technology allow us to serve our customers in a way that was previously impossible?"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dirty="0"/>
              <a:t>Understanding Data Types (Part A: Structured)</a:t>
            </a:r>
          </a:p>
        </p:txBody>
      </p:sp>
      <p:sp>
        <p:nvSpPr>
          <p:cNvPr id="3" name="Content Placeholder 2"/>
          <p:cNvSpPr>
            <a:spLocks noGrp="1"/>
          </p:cNvSpPr>
          <p:nvPr>
            <p:ph idx="1"/>
          </p:nvPr>
        </p:nvSpPr>
        <p:spPr/>
        <p:txBody>
          <a:bodyPr/>
          <a:lstStyle/>
          <a:p>
            <a:r>
              <a:t>Structured data is the most traditional form of data, often referred to as "quantitative" data. It is highly organized and formatted in a way so that it is easily searchable in relational databases. Examples include dates, names, addresses, and credit card numbers. Because it follows a rigid schema (rows and columns), it is easy for computers to process and analyze using languages like SQL. It remains the foundation of most financial and inventory management systems globally.</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dirty="0"/>
              <a:t>Understanding Data Types (Part B: Unstructured &amp; Semi-structured)</a:t>
            </a:r>
          </a:p>
        </p:txBody>
      </p:sp>
      <p:sp>
        <p:nvSpPr>
          <p:cNvPr id="3" name="Content Placeholder 2"/>
          <p:cNvSpPr>
            <a:spLocks noGrp="1"/>
          </p:cNvSpPr>
          <p:nvPr>
            <p:ph idx="1"/>
          </p:nvPr>
        </p:nvSpPr>
        <p:spPr/>
        <p:txBody>
          <a:bodyPr/>
          <a:lstStyle/>
          <a:p>
            <a:r>
              <a:rPr dirty="0"/>
              <a:t>Unstructured data is information that does not have a pre-defined data model or is not organized in a pre-defined manner. This includes emails, videos, audio files, and social media posts, making up about 80% of enterprise data. </a:t>
            </a:r>
            <a:endParaRPr lang="en-US" dirty="0"/>
          </a:p>
          <a:p>
            <a:r>
              <a:rPr dirty="0"/>
              <a:t>Semi-structured data sits in the middle; it doesn't reside in a relational database but has some organizational properties, like tags or markers. JSON and XML files are classic examples, allowing for flexibility while still maintaining enough structure for machine readability.</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Common Data Sources (Part A: Internal &amp; External)</a:t>
            </a:r>
            <a:endParaRPr dirty="0"/>
          </a:p>
        </p:txBody>
      </p:sp>
      <p:sp>
        <p:nvSpPr>
          <p:cNvPr id="3" name="Content Placeholder 2"/>
          <p:cNvSpPr>
            <a:spLocks noGrp="1"/>
          </p:cNvSpPr>
          <p:nvPr>
            <p:ph idx="1"/>
          </p:nvPr>
        </p:nvSpPr>
        <p:spPr/>
        <p:txBody>
          <a:bodyPr/>
          <a:lstStyle/>
          <a:p>
            <a:r>
              <a:rPr lang="en-US" dirty="0"/>
              <a:t>Data sources are the origins of the information used for analysis. Internal sources include data generated within the organization, such as sales records, employee performance metrics, and internal financial statements. External sources come from outside the firm, such as market research reports, government census data, and social media trends. Combining internal and external data is crucial for "Contextual Analysis," allowing a business to see how its internal performance stacks up against broader market conditions.</a:t>
            </a:r>
            <a:endParaRPr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Common Data Sources (Part B: Databases &amp; APIs)</a:t>
            </a:r>
            <a:endParaRPr dirty="0"/>
          </a:p>
        </p:txBody>
      </p:sp>
      <p:sp>
        <p:nvSpPr>
          <p:cNvPr id="3" name="Content Placeholder 2"/>
          <p:cNvSpPr>
            <a:spLocks noGrp="1"/>
          </p:cNvSpPr>
          <p:nvPr>
            <p:ph idx="1"/>
          </p:nvPr>
        </p:nvSpPr>
        <p:spPr/>
        <p:txBody>
          <a:bodyPr/>
          <a:lstStyle/>
          <a:p>
            <a:r>
              <a:rPr lang="en-US" dirty="0"/>
              <a:t>On a technical level, data is often sourced via Databases and Application Programming Interfaces (APIs). Relational databases (like MySQL) and NoSQL databases (like MongoDB) store vast amounts of organized information. APIs, however, allow different software systems to "talk" to each other, pulling real-time data from external services like Google Maps, weather services, or stock market tickers. This allows businesses to build dynamic applications that respond to real-world changes as they happen.</a:t>
            </a:r>
            <a:endParaRPr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Collection Methods (Part A: Primary Methods)</a:t>
            </a:r>
            <a:endParaRPr dirty="0"/>
          </a:p>
        </p:txBody>
      </p:sp>
      <p:sp>
        <p:nvSpPr>
          <p:cNvPr id="3" name="Content Placeholder 2"/>
          <p:cNvSpPr>
            <a:spLocks noGrp="1"/>
          </p:cNvSpPr>
          <p:nvPr>
            <p:ph idx="1"/>
          </p:nvPr>
        </p:nvSpPr>
        <p:spPr/>
        <p:txBody>
          <a:bodyPr/>
          <a:lstStyle/>
          <a:p>
            <a:r>
              <a:rPr lang="en-US" dirty="0"/>
              <a:t>Data collection is the process of gathering and measuring information on variables of interest. Primary methods involve direct interaction, such as surveys, focus groups, and interviews. In a digital context, this includes website tracking where user clicks and behavior are recorded directly. These methods are highly targeted and allow the business to ask specific questions, though they can be time-consuming and expensive compared to secondary data collection methods.</a:t>
            </a:r>
            <a:endParaRPr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Data Collection Methods (Part B: Secondary &amp; Automated)</a:t>
            </a:r>
            <a:endParaRPr dirty="0"/>
          </a:p>
        </p:txBody>
      </p:sp>
      <p:sp>
        <p:nvSpPr>
          <p:cNvPr id="3" name="Content Placeholder 2"/>
          <p:cNvSpPr>
            <a:spLocks noGrp="1"/>
          </p:cNvSpPr>
          <p:nvPr>
            <p:ph idx="1"/>
          </p:nvPr>
        </p:nvSpPr>
        <p:spPr/>
        <p:txBody>
          <a:bodyPr/>
          <a:lstStyle/>
          <a:p>
            <a:r>
              <a:rPr lang="en-US" dirty="0"/>
              <a:t>Secondary data collection involves using data that has already been collected by others, such as white papers or industry journals. In 2026, automated data collection is the gold standard. This involves using IoT (Internet of Things) sensors in factories, web scraping tools to monitor competitor prices, and automated log file generation. These methods provide a continuous stream of data, allowing for "Streaming Analytics" where decisions can be made in milliseconds without human intervention.</a:t>
            </a:r>
            <a:endParaRPr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Data Lifecycle Management (Part A: Creation to Usage)</a:t>
            </a:r>
            <a:endParaRPr dirty="0"/>
          </a:p>
        </p:txBody>
      </p:sp>
      <p:sp>
        <p:nvSpPr>
          <p:cNvPr id="3" name="Content Placeholder 2"/>
          <p:cNvSpPr>
            <a:spLocks noGrp="1"/>
          </p:cNvSpPr>
          <p:nvPr>
            <p:ph idx="1"/>
          </p:nvPr>
        </p:nvSpPr>
        <p:spPr/>
        <p:txBody>
          <a:bodyPr/>
          <a:lstStyle/>
          <a:p>
            <a:r>
              <a:rPr lang="en-US" dirty="0"/>
              <a:t>Data Lifecycle Management (DLM) is a policy-based approach to managing the flow of an information system's data throughout its life. It begins with </a:t>
            </a:r>
            <a:r>
              <a:rPr lang="en-US" b="1" dirty="0"/>
              <a:t>Creation</a:t>
            </a:r>
            <a:r>
              <a:rPr lang="en-US" dirty="0"/>
              <a:t>, where data is first captured or generated. It then moves to </a:t>
            </a:r>
            <a:r>
              <a:rPr lang="en-US" b="1" dirty="0"/>
              <a:t>Storage</a:t>
            </a:r>
            <a:r>
              <a:rPr lang="en-US" dirty="0"/>
              <a:t>, where it must be protected in secure databases. The </a:t>
            </a:r>
            <a:r>
              <a:rPr lang="en-US" b="1" dirty="0"/>
              <a:t>Usage</a:t>
            </a:r>
            <a:r>
              <a:rPr lang="en-US" dirty="0"/>
              <a:t> phase is the most critical, where data is analyzed to create value. During these stages, the focus is on availability and performance, ensuring the right people have access to the data they need.</a:t>
            </a:r>
            <a:endParaRPr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Data Lifecycle Management (Part B: Archiving to Deletion)</a:t>
            </a:r>
            <a:endParaRPr dirty="0"/>
          </a:p>
        </p:txBody>
      </p:sp>
      <p:sp>
        <p:nvSpPr>
          <p:cNvPr id="3" name="Content Placeholder 2"/>
          <p:cNvSpPr>
            <a:spLocks noGrp="1"/>
          </p:cNvSpPr>
          <p:nvPr>
            <p:ph idx="1"/>
          </p:nvPr>
        </p:nvSpPr>
        <p:spPr/>
        <p:txBody>
          <a:bodyPr/>
          <a:lstStyle/>
          <a:p>
            <a:r>
              <a:rPr lang="en-US" dirty="0"/>
              <a:t>The latter half of DLM involves </a:t>
            </a:r>
            <a:r>
              <a:rPr lang="en-US" b="1" dirty="0"/>
              <a:t>Archiving</a:t>
            </a:r>
            <a:r>
              <a:rPr lang="en-US" dirty="0"/>
              <a:t> and </a:t>
            </a:r>
            <a:r>
              <a:rPr lang="en-US" b="1" dirty="0"/>
              <a:t>Deletion</a:t>
            </a:r>
            <a:r>
              <a:rPr lang="en-US" dirty="0"/>
              <a:t>. Archiving moves data that is no longer frequently accessed to cheaper, long-term storage for regulatory or historical purposes. Finally, </a:t>
            </a:r>
            <a:r>
              <a:rPr lang="en-US" b="1" dirty="0"/>
              <a:t>Deletion</a:t>
            </a:r>
            <a:r>
              <a:rPr lang="en-US" dirty="0"/>
              <a:t> (or purging) is the permanent removal of data. This is not just a technical step but a legal one; under laws like GDPR, businesses must delete personal data once its purpose is fulfilled. Proper DLM ensures that the company is not paying for unnecessary storage or carrying legal risks.</a:t>
            </a:r>
            <a:endParaRPr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Quality &amp; Integrity (Part A: Defining Quality)</a:t>
            </a:r>
            <a:endParaRPr dirty="0"/>
          </a:p>
        </p:txBody>
      </p:sp>
      <p:sp>
        <p:nvSpPr>
          <p:cNvPr id="3" name="Content Placeholder 2"/>
          <p:cNvSpPr>
            <a:spLocks noGrp="1"/>
          </p:cNvSpPr>
          <p:nvPr>
            <p:ph idx="1"/>
          </p:nvPr>
        </p:nvSpPr>
        <p:spPr/>
        <p:txBody>
          <a:bodyPr/>
          <a:lstStyle/>
          <a:p>
            <a:r>
              <a:rPr lang="en-US" dirty="0"/>
              <a:t>Data Quality refers to the condition of a set of values of qualitative or quantitative variables. For data to be considered "high quality," it must meet the dimensions of Accuracy, Completeness, Consistency, Timeliness, and Validity. If a marketing database has 10,000 entries but 4,000 have missing email addresses, the data is of "low quality." Decisions based on low-quality data lead to wasted budgets and failed strategies, making data cleansing a vital step in any analysis.</a:t>
            </a:r>
            <a:endParaRPr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Quality &amp; Integrity (Part B: Ensuring Integrity)</a:t>
            </a:r>
            <a:endParaRPr dirty="0"/>
          </a:p>
        </p:txBody>
      </p:sp>
      <p:sp>
        <p:nvSpPr>
          <p:cNvPr id="3" name="Content Placeholder 2"/>
          <p:cNvSpPr>
            <a:spLocks noGrp="1"/>
          </p:cNvSpPr>
          <p:nvPr>
            <p:ph idx="1"/>
          </p:nvPr>
        </p:nvSpPr>
        <p:spPr/>
        <p:txBody>
          <a:bodyPr/>
          <a:lstStyle/>
          <a:p>
            <a:r>
              <a:rPr lang="en-US" dirty="0"/>
              <a:t>Data Integrity is the assurance of the accuracy and consistency of data over its entire life-cycle. It is a critical aspect of the design, implementation, and usage of any system which stores, processes, or retrieves data. Integrity involves protecting data from unauthorized changes (Security Integrity) and ensuring that the data relationships remain logical (Referential Integrity). For example, if a customer record is deleted, the system should not leave "orphan" invoices associated with a non-existent ID.</a:t>
            </a:r>
            <a:endParaRPr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Business Analyst (Part A: Definition)</a:t>
            </a:r>
            <a:endParaRPr dirty="0"/>
          </a:p>
        </p:txBody>
      </p:sp>
      <p:sp>
        <p:nvSpPr>
          <p:cNvPr id="3" name="Content Placeholder 2"/>
          <p:cNvSpPr>
            <a:spLocks noGrp="1"/>
          </p:cNvSpPr>
          <p:nvPr>
            <p:ph idx="1"/>
          </p:nvPr>
        </p:nvSpPr>
        <p:spPr/>
        <p:txBody>
          <a:bodyPr/>
          <a:lstStyle/>
          <a:p>
            <a:r>
              <a:rPr lang="en-US" dirty="0"/>
              <a:t>A Business Analyst (BA) is a professional who identifies business needs and determines solutions to business problems. These solutions often include a software-systems development component but may also consist of process improvements, organizational changes, or strategic planning and policy development. The BA acts as the "translator" between the stakeholders (who have business needs) and the IT department (which builds the technical solutions), ensuring that the final product actually solves the original problem.</a:t>
            </a:r>
            <a:endParaRPr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Business Analyst (Part B: Responsibilities)</a:t>
            </a:r>
            <a:endParaRPr dirty="0"/>
          </a:p>
        </p:txBody>
      </p:sp>
      <p:sp>
        <p:nvSpPr>
          <p:cNvPr id="3" name="Content Placeholder 2"/>
          <p:cNvSpPr>
            <a:spLocks noGrp="1"/>
          </p:cNvSpPr>
          <p:nvPr>
            <p:ph idx="1"/>
          </p:nvPr>
        </p:nvSpPr>
        <p:spPr/>
        <p:txBody>
          <a:bodyPr/>
          <a:lstStyle/>
          <a:p>
            <a:r>
              <a:rPr lang="en-US" dirty="0"/>
              <a:t>The core responsibilities of a BA include requirements elicitation, where they "dig out" what the business actually needs through interviews and workshops. They are responsible for documenting these requirements in Business Requirement Documents (BRD). Furthermore, they perform gap analysis to see where the business is now versus where it wants to be. Finally, they assist in User Acceptance Testing (UAT), ensuring that the technology built by the developers meets the criteria set by the business users.</a:t>
            </a:r>
            <a:endParaRPr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 Skills for a BA (Part A: Technical Skills)</a:t>
            </a:r>
            <a:endParaRPr dirty="0"/>
          </a:p>
        </p:txBody>
      </p:sp>
      <p:sp>
        <p:nvSpPr>
          <p:cNvPr id="3" name="Content Placeholder 2"/>
          <p:cNvSpPr>
            <a:spLocks noGrp="1"/>
          </p:cNvSpPr>
          <p:nvPr>
            <p:ph idx="1"/>
          </p:nvPr>
        </p:nvSpPr>
        <p:spPr/>
        <p:txBody>
          <a:bodyPr/>
          <a:lstStyle/>
          <a:p>
            <a:r>
              <a:rPr lang="en-US" dirty="0"/>
              <a:t>A successful Business Analyst needs a blend of technical and analytical skills. On the technical side, proficiency in data visualization tools like Tableau or </a:t>
            </a:r>
            <a:r>
              <a:rPr lang="en-US" dirty="0" err="1"/>
              <a:t>PowerBI</a:t>
            </a:r>
            <a:r>
              <a:rPr lang="en-US" dirty="0"/>
              <a:t> is essential for presenting findings. Knowledge of SQL for data extraction and a basic understanding of software development lifecycles (SDLC) allows them to communicate effectively with developers. Additionally, understanding business process modeling notation (BPMN) helps them map out complex workflows in a way that is standardized and easy to follow.</a:t>
            </a:r>
            <a:endParaRPr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 Skills for a BA (Part B: Soft Skills)</a:t>
            </a:r>
            <a:endParaRPr dirty="0"/>
          </a:p>
        </p:txBody>
      </p:sp>
      <p:sp>
        <p:nvSpPr>
          <p:cNvPr id="3" name="Content Placeholder 2"/>
          <p:cNvSpPr>
            <a:spLocks noGrp="1"/>
          </p:cNvSpPr>
          <p:nvPr>
            <p:ph idx="1"/>
          </p:nvPr>
        </p:nvSpPr>
        <p:spPr/>
        <p:txBody>
          <a:bodyPr/>
          <a:lstStyle/>
          <a:p>
            <a:r>
              <a:rPr lang="en-US" dirty="0"/>
              <a:t>Soft skills are often what define a great BA. Communication is paramount; they must be able to explain complex technical concepts to non-technical executives and vice versa. Critical thinking allows them to question a stakeholder’s request to find the "why" behind the "what." Negotiation and conflict resolution are also vital, as different stakeholders often have competing priorities. A BA must be able to manage these expectations and guide the group toward a consensus that benefits the organization.</a:t>
            </a:r>
            <a:endParaRPr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Business Analysis Methodologies (Part A: Waterfall)</a:t>
            </a:r>
            <a:endParaRPr dirty="0"/>
          </a:p>
        </p:txBody>
      </p:sp>
      <p:sp>
        <p:nvSpPr>
          <p:cNvPr id="3" name="Content Placeholder 2"/>
          <p:cNvSpPr>
            <a:spLocks noGrp="1"/>
          </p:cNvSpPr>
          <p:nvPr>
            <p:ph idx="1"/>
          </p:nvPr>
        </p:nvSpPr>
        <p:spPr/>
        <p:txBody>
          <a:bodyPr/>
          <a:lstStyle/>
          <a:p>
            <a:r>
              <a:rPr lang="en-US" dirty="0"/>
              <a:t>The Waterfall methodology is a linear, sequential approach to project management. In this model, each phase must be completed before the next one begins. This is ideal for projects with well-defined, unchanging requirements. For a BA, this means a heavy emphasis on upfront documentation. While it is criticized for being inflexible, it provides clear milestones and a predictable timeline, making it suitable for large-scale infrastructure projects where changes later in the process would be prohibitively expensive.</a:t>
            </a:r>
            <a:endParaRPr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Business Analysis Methodologies (Part B: Agile)</a:t>
            </a:r>
            <a:endParaRPr dirty="0"/>
          </a:p>
        </p:txBody>
      </p:sp>
      <p:sp>
        <p:nvSpPr>
          <p:cNvPr id="3" name="Content Placeholder 2"/>
          <p:cNvSpPr>
            <a:spLocks noGrp="1"/>
          </p:cNvSpPr>
          <p:nvPr>
            <p:ph idx="1"/>
          </p:nvPr>
        </p:nvSpPr>
        <p:spPr/>
        <p:txBody>
          <a:bodyPr/>
          <a:lstStyle/>
          <a:p>
            <a:r>
              <a:rPr lang="en-US" dirty="0"/>
              <a:t>Agile methodology is an iterative and incremental approach to project management and software development. It focuses on delivering small pieces of working software frequently rather than one big release at the end. For a BA in an Agile environment, the focus shifts from massive BRDs to "User Stories" and "Product Backlogs." Agile allows for constant feedback and the ability to pivot when market conditions change, making it the preferred method for modern software development and startup environments.</a:t>
            </a:r>
            <a:endParaRPr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Stakeholder Management (Part A: Identification)</a:t>
            </a:r>
            <a:endParaRPr dirty="0"/>
          </a:p>
        </p:txBody>
      </p:sp>
      <p:sp>
        <p:nvSpPr>
          <p:cNvPr id="3" name="Content Placeholder 2"/>
          <p:cNvSpPr>
            <a:spLocks noGrp="1"/>
          </p:cNvSpPr>
          <p:nvPr>
            <p:ph idx="1"/>
          </p:nvPr>
        </p:nvSpPr>
        <p:spPr/>
        <p:txBody>
          <a:bodyPr/>
          <a:lstStyle/>
          <a:p>
            <a:r>
              <a:rPr lang="en-US" dirty="0"/>
              <a:t>Stakeholder Management is the process of maintaining good relationships with the people who have most influence over your work. The first step is identification: who is the Project Sponsor (who pays for it)? Who are the End Users (who uses it)? Who is the Subject Matter Expert (SME)? Missing a key stakeholder early in a project can lead to "scope creep" or project failure later on when that person’s requirements are finally revealed.</a:t>
            </a:r>
            <a:endParaRPr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Stakeholder Management (Part B: Engagement Strategies)</a:t>
            </a:r>
            <a:endParaRPr dirty="0"/>
          </a:p>
        </p:txBody>
      </p:sp>
      <p:sp>
        <p:nvSpPr>
          <p:cNvPr id="3" name="Content Placeholder 2"/>
          <p:cNvSpPr>
            <a:spLocks noGrp="1"/>
          </p:cNvSpPr>
          <p:nvPr>
            <p:ph idx="1"/>
          </p:nvPr>
        </p:nvSpPr>
        <p:spPr/>
        <p:txBody>
          <a:bodyPr/>
          <a:lstStyle/>
          <a:p>
            <a:r>
              <a:rPr lang="en-US" dirty="0"/>
              <a:t>Once identified, stakeholders are often mapped on a Power/Interest Grid. High-power, high-interest stakeholders must be "managed closely," while low-power, low-interest ones only need "monitoring." Engagement involves regular status updates, feedback sessions, and managing expectations. A BA must be proactive in addressing concerns before they turn into resistance. Successful management ensures that when the final product is delivered, the stakeholders feel a sense of ownership rather than surprise.</a:t>
            </a:r>
            <a:endParaRPr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Raw Data vs. Processed Information (Part A)</a:t>
            </a:r>
            <a:endParaRPr dirty="0"/>
          </a:p>
        </p:txBody>
      </p:sp>
      <p:sp>
        <p:nvSpPr>
          <p:cNvPr id="3" name="Content Placeholder 2"/>
          <p:cNvSpPr>
            <a:spLocks noGrp="1"/>
          </p:cNvSpPr>
          <p:nvPr>
            <p:ph idx="1"/>
          </p:nvPr>
        </p:nvSpPr>
        <p:spPr/>
        <p:txBody>
          <a:bodyPr/>
          <a:lstStyle/>
          <a:p>
            <a:r>
              <a:rPr lang="en-US" dirty="0"/>
              <a:t>Raw data consists of symbols or signals that have not been interpreted. For example, a list of daily temperatures like "32, 34, 31, 35" is raw data. In this state, the data is essentially useless for decision-making because it lacks context. Businesses often sit on "data graveyards"—massive amounts of raw data collected from sensors or logs—that provide no value because they haven't been processed into a format that a human or an algorithm can act upon.</a:t>
            </a:r>
            <a:endParaRPr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Raw Data vs. Processed Information (Part B)</a:t>
            </a:r>
            <a:endParaRPr dirty="0"/>
          </a:p>
        </p:txBody>
      </p:sp>
      <p:sp>
        <p:nvSpPr>
          <p:cNvPr id="3" name="Content Placeholder 2"/>
          <p:cNvSpPr>
            <a:spLocks noGrp="1"/>
          </p:cNvSpPr>
          <p:nvPr>
            <p:ph idx="1"/>
          </p:nvPr>
        </p:nvSpPr>
        <p:spPr/>
        <p:txBody>
          <a:bodyPr/>
          <a:lstStyle/>
          <a:p>
            <a:r>
              <a:rPr lang="en-US" dirty="0"/>
              <a:t>Processed Information is data that has been cleaned, categorized, and given context. If we take the temperature list and say, "These are the peak temperatures in the warehouse over the last 4 days, showing a 10% increase," it becomes information. Processing transforms "noise" into "signal." This transformation is the first step toward business intelligence. Information answers the "Who, What, Where, and When," providing the foundation for more complex analysis.</a:t>
            </a:r>
            <a:endParaRPr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Transformation Process (Part A: Data to Information)</a:t>
            </a:r>
            <a:endParaRPr dirty="0"/>
          </a:p>
        </p:txBody>
      </p:sp>
      <p:sp>
        <p:nvSpPr>
          <p:cNvPr id="3" name="Content Placeholder 2"/>
          <p:cNvSpPr>
            <a:spLocks noGrp="1"/>
          </p:cNvSpPr>
          <p:nvPr>
            <p:ph idx="1"/>
          </p:nvPr>
        </p:nvSpPr>
        <p:spPr/>
        <p:txBody>
          <a:bodyPr/>
          <a:lstStyle/>
          <a:p>
            <a:r>
              <a:rPr lang="en-US" dirty="0"/>
              <a:t>The journey from Data to Information involves "Contextualization." This is done through calculating averages, identifying trends, or comparing data points against a benchmark. For a business, this might mean taking millions of individual transaction records (Data) and turning them into a monthly sales report (Information). Without this step, the volume of data is simply too high for the human brain to process, leading to information overload rather than insight.</a:t>
            </a:r>
            <a:endParaRPr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The Transformation Process (Part B: Information to Knowledge)</a:t>
            </a:r>
            <a:endParaRPr dirty="0"/>
          </a:p>
        </p:txBody>
      </p:sp>
      <p:sp>
        <p:nvSpPr>
          <p:cNvPr id="3" name="Content Placeholder 2"/>
          <p:cNvSpPr>
            <a:spLocks noGrp="1"/>
          </p:cNvSpPr>
          <p:nvPr>
            <p:ph idx="1"/>
          </p:nvPr>
        </p:nvSpPr>
        <p:spPr/>
        <p:txBody>
          <a:bodyPr/>
          <a:lstStyle/>
          <a:p>
            <a:r>
              <a:rPr lang="en-US" dirty="0"/>
              <a:t>The jump from Information to Knowledge involves "Application." Knowledge is the ability to use information to perform a task or solve a problem. If the Information says "Sales are down 20% in the North region," Knowledge is understanding </a:t>
            </a:r>
            <a:r>
              <a:rPr lang="en-US" i="1" dirty="0"/>
              <a:t>why</a:t>
            </a:r>
            <a:r>
              <a:rPr lang="en-US" dirty="0"/>
              <a:t> (e.g., a competitor opened a new store) and knowing what to do about it. Knowledge is built through experience and learning. It is the "How" that allows a business to turn a report into a strategic maneuver.</a:t>
            </a:r>
            <a:endParaRPr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Value of Information in Decision Making (Part A)</a:t>
            </a:r>
            <a:endParaRPr dirty="0"/>
          </a:p>
        </p:txBody>
      </p:sp>
      <p:sp>
        <p:nvSpPr>
          <p:cNvPr id="3" name="Content Placeholder 2"/>
          <p:cNvSpPr>
            <a:spLocks noGrp="1"/>
          </p:cNvSpPr>
          <p:nvPr>
            <p:ph idx="1"/>
          </p:nvPr>
        </p:nvSpPr>
        <p:spPr/>
        <p:txBody>
          <a:bodyPr/>
          <a:lstStyle/>
          <a:p>
            <a:r>
              <a:rPr lang="en-US" dirty="0"/>
              <a:t>Information has value when it changes a decision. If you were going to invest $1M in a project and a piece of information tells you that the market for that project has collapsed, that information is worth exactly the $1M you saved. This is known as the "Value of Information" (</a:t>
            </a:r>
            <a:r>
              <a:rPr lang="en-US" dirty="0" err="1"/>
              <a:t>VoI</a:t>
            </a:r>
            <a:r>
              <a:rPr lang="en-US" dirty="0"/>
              <a:t>). In a business context, information reduces uncertainty and risk. The more accurate and timely the information, the higher its value, as it allows leaders to act with confidence.</a:t>
            </a:r>
            <a:endParaRPr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Value of Information in Decision Making (Part B)</a:t>
            </a:r>
            <a:endParaRPr dirty="0"/>
          </a:p>
        </p:txBody>
      </p:sp>
      <p:sp>
        <p:nvSpPr>
          <p:cNvPr id="3" name="Content Placeholder 2"/>
          <p:cNvSpPr>
            <a:spLocks noGrp="1"/>
          </p:cNvSpPr>
          <p:nvPr>
            <p:ph idx="1"/>
          </p:nvPr>
        </p:nvSpPr>
        <p:spPr/>
        <p:txBody>
          <a:bodyPr/>
          <a:lstStyle/>
          <a:p>
            <a:r>
              <a:rPr lang="en-US" dirty="0"/>
              <a:t>Beyond risk reduction, information adds value through "Opportunity Identification." It can reveal untapped market segments or internal inefficiencies that were previously invisible. For example, data might show that customers who buy Karate equipment also tend to buy high-protein snacks. This information allows for cross-selling strategies that increase the "Lifetime Value" of the customer. Thus, information is not just a protective shield but a tool for aggressive growth.</a:t>
            </a:r>
            <a:endParaRPr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Principles of DDDM (Part A: Objectivity)</a:t>
            </a:r>
            <a:endParaRPr dirty="0"/>
          </a:p>
        </p:txBody>
      </p:sp>
      <p:sp>
        <p:nvSpPr>
          <p:cNvPr id="3" name="Content Placeholder 2"/>
          <p:cNvSpPr>
            <a:spLocks noGrp="1"/>
          </p:cNvSpPr>
          <p:nvPr>
            <p:ph idx="1"/>
          </p:nvPr>
        </p:nvSpPr>
        <p:spPr/>
        <p:txBody>
          <a:bodyPr/>
          <a:lstStyle/>
          <a:p>
            <a:r>
              <a:rPr lang="en-US" dirty="0"/>
              <a:t>Data-Driven Decision Making (DDDM) is the practice of basing decisions on the analysis of data rather than purely on intuition or "gut feeling." The first principle is Objectivity. By using hard metrics, businesses can bypass the cognitive biases that often plague human leaders, such as "Recency Bias" (overvaluing the most recent event) or "Confirmation Bias" (only looking for data that supports their pre-existing opinion).</a:t>
            </a:r>
            <a:endParaRPr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Principles of DDDM (Part B: Accessibility &amp; Iteration)</a:t>
            </a:r>
            <a:endParaRPr dirty="0"/>
          </a:p>
        </p:txBody>
      </p:sp>
      <p:sp>
        <p:nvSpPr>
          <p:cNvPr id="3" name="Content Placeholder 2"/>
          <p:cNvSpPr>
            <a:spLocks noGrp="1"/>
          </p:cNvSpPr>
          <p:nvPr>
            <p:ph idx="1"/>
          </p:nvPr>
        </p:nvSpPr>
        <p:spPr/>
        <p:txBody>
          <a:bodyPr/>
          <a:lstStyle/>
          <a:p>
            <a:r>
              <a:rPr lang="en-US" dirty="0"/>
              <a:t>The second and third principles are Accessibility and Iteration. For DDDM to work, data must be accessible to the people making the decisions, not locked away in the IT department. Furthermore, DDDM is an iterative process. You make a decision based on data, you measure the outcome, and then you use that new data to refine the next decision. This creates a "Feedback Loop" that allows the organization to learn and improve at a much faster rate than competitors.</a:t>
            </a:r>
            <a:endParaRPr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Benefits of Data-Driven Decisions (Part A)</a:t>
            </a:r>
            <a:endParaRPr dirty="0"/>
          </a:p>
        </p:txBody>
      </p:sp>
      <p:sp>
        <p:nvSpPr>
          <p:cNvPr id="3" name="Content Placeholder 2"/>
          <p:cNvSpPr>
            <a:spLocks noGrp="1"/>
          </p:cNvSpPr>
          <p:nvPr>
            <p:ph idx="1"/>
          </p:nvPr>
        </p:nvSpPr>
        <p:spPr/>
        <p:txBody>
          <a:bodyPr/>
          <a:lstStyle/>
          <a:p>
            <a:r>
              <a:rPr lang="en-US" dirty="0"/>
              <a:t>One major benefit of DDDM is "Increased Agility." In a rapidly changing market, companies that rely on annual reports and intuition are too slow. Those using real-time data can pivot in days or even hours. Another benefit is "Consistency." When decisions are based on data, they are repeatable and explainable. This creates a culture of fairness within the organization, as decisions are seen to be based on merit and facts rather than office politics or favoritism.</a:t>
            </a:r>
            <a:endParaRPr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Benefits of Data-Driven Decisions (Part B)</a:t>
            </a:r>
            <a:endParaRPr dirty="0"/>
          </a:p>
        </p:txBody>
      </p:sp>
      <p:sp>
        <p:nvSpPr>
          <p:cNvPr id="3" name="Content Placeholder 2"/>
          <p:cNvSpPr>
            <a:spLocks noGrp="1"/>
          </p:cNvSpPr>
          <p:nvPr>
            <p:ph idx="1"/>
          </p:nvPr>
        </p:nvSpPr>
        <p:spPr/>
        <p:txBody>
          <a:bodyPr/>
          <a:lstStyle/>
          <a:p>
            <a:r>
              <a:rPr lang="en-US" dirty="0"/>
              <a:t>Furthermore, DDDM leads to significant "Cost Savings." By analyzing operational data, businesses can find "Hidden Costs"—such as energy waste in a factory or inefficient shipping routes. In marketing, data allows for "Micro-segmentation," ensuring that advertising dollars are only spent on the people most likely to buy, drastically increasing the Return on Investment (ROI). Ultimately, the biggest benefit is a higher success rate for new initiatives.</a:t>
            </a:r>
            <a:endParaRPr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Steps in the DDDM Process (Part A: 1-3)</a:t>
            </a:r>
            <a:endParaRPr dirty="0"/>
          </a:p>
        </p:txBody>
      </p:sp>
      <p:sp>
        <p:nvSpPr>
          <p:cNvPr id="3" name="Content Placeholder 2"/>
          <p:cNvSpPr>
            <a:spLocks noGrp="1"/>
          </p:cNvSpPr>
          <p:nvPr>
            <p:ph idx="1"/>
          </p:nvPr>
        </p:nvSpPr>
        <p:spPr/>
        <p:txBody>
          <a:bodyPr/>
          <a:lstStyle/>
          <a:p>
            <a:r>
              <a:rPr lang="en-US" dirty="0"/>
              <a:t>The DDDM process starts with </a:t>
            </a:r>
            <a:r>
              <a:rPr lang="en-US" b="1" dirty="0"/>
              <a:t>1. Defining the Question:</a:t>
            </a:r>
            <a:r>
              <a:rPr lang="en-US" dirty="0"/>
              <a:t> What is the specific problem you are trying to solve? Avoid vague goals. Next is </a:t>
            </a:r>
            <a:r>
              <a:rPr lang="en-US" b="1" dirty="0"/>
              <a:t>2. Data Identification:</a:t>
            </a:r>
            <a:r>
              <a:rPr lang="en-US" dirty="0"/>
              <a:t> What data is needed to answer that question, and where does it live? Then, </a:t>
            </a:r>
            <a:r>
              <a:rPr lang="en-US" b="1" dirty="0"/>
              <a:t>3. Data Collection &amp; Cleaning:</a:t>
            </a:r>
            <a:r>
              <a:rPr lang="en-US" dirty="0"/>
              <a:t> Gathering the data and ensuring it is accurate. Without cleaning (removing duplicates and errors), the analysis will be flawed, leading to the "Garbage In, Garbage Out" scenario.</a:t>
            </a:r>
            <a:endParaRPr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Steps in the DDDM Process (Part B: 4-6)</a:t>
            </a:r>
            <a:endParaRPr dirty="0"/>
          </a:p>
        </p:txBody>
      </p:sp>
      <p:sp>
        <p:nvSpPr>
          <p:cNvPr id="3" name="Content Placeholder 2"/>
          <p:cNvSpPr>
            <a:spLocks noGrp="1"/>
          </p:cNvSpPr>
          <p:nvPr>
            <p:ph idx="1"/>
          </p:nvPr>
        </p:nvSpPr>
        <p:spPr/>
        <p:txBody>
          <a:bodyPr/>
          <a:lstStyle/>
          <a:p>
            <a:r>
              <a:rPr lang="en-US" dirty="0"/>
              <a:t>Step </a:t>
            </a:r>
            <a:r>
              <a:rPr lang="en-US" b="1" dirty="0"/>
              <a:t>4 is Analysis:</a:t>
            </a:r>
            <a:r>
              <a:rPr lang="en-US" dirty="0"/>
              <a:t> Using statistical or AI tools to find patterns. Step </a:t>
            </a:r>
            <a:r>
              <a:rPr lang="en-US" b="1" dirty="0"/>
              <a:t>5 is Interpretation:</a:t>
            </a:r>
            <a:r>
              <a:rPr lang="en-US" dirty="0"/>
              <a:t> Turning those patterns into a story or a recommendation for the business. Finally, Step </a:t>
            </a:r>
            <a:r>
              <a:rPr lang="en-US" b="1" dirty="0"/>
              <a:t>6 is Action &amp; Evaluation:</a:t>
            </a:r>
            <a:r>
              <a:rPr lang="en-US" dirty="0"/>
              <a:t> Implementing the decision and, most importantly, measuring the result to see if the original question was answered. This final step is what turns a one-off analysis into a continuous cycle of improvement for the enterprise.</a:t>
            </a:r>
            <a:endParaRPr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Challenges &amp; Pitfalls in DDDM (Part A: Data Quality)</a:t>
            </a:r>
            <a:endParaRPr dirty="0"/>
          </a:p>
        </p:txBody>
      </p:sp>
      <p:sp>
        <p:nvSpPr>
          <p:cNvPr id="3" name="Content Placeholder 2"/>
          <p:cNvSpPr>
            <a:spLocks noGrp="1"/>
          </p:cNvSpPr>
          <p:nvPr>
            <p:ph idx="1"/>
          </p:nvPr>
        </p:nvSpPr>
        <p:spPr/>
        <p:txBody>
          <a:bodyPr/>
          <a:lstStyle/>
          <a:p>
            <a:r>
              <a:rPr lang="en-US" dirty="0"/>
              <a:t>The most common pitfall in DDDM is "Poor Data Quality." If the underlying data is biased, incomplete, or outdated, the decision will be wrong regardless of how advanced the analysis tool is. Another challenge is the "Skills Gap." Many organizations have data but lack employees who know how to interpret it correctly. Without "Data Literacy" across the workforce, the best data tools in the world will remain underutilized and ineffective.</a:t>
            </a:r>
            <a:endParaRPr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Challenges &amp; Pitfalls in DDDM (Part B: Cultural Resistance)</a:t>
            </a:r>
            <a:endParaRPr dirty="0"/>
          </a:p>
        </p:txBody>
      </p:sp>
      <p:sp>
        <p:nvSpPr>
          <p:cNvPr id="3" name="Content Placeholder 2"/>
          <p:cNvSpPr>
            <a:spLocks noGrp="1"/>
          </p:cNvSpPr>
          <p:nvPr>
            <p:ph idx="1"/>
          </p:nvPr>
        </p:nvSpPr>
        <p:spPr/>
        <p:txBody>
          <a:bodyPr/>
          <a:lstStyle/>
          <a:p>
            <a:r>
              <a:rPr lang="en-US" dirty="0"/>
              <a:t>The hardest challenge is often "Cultural Resistance." Leaders who have spent 20 years relying on their intuition may feel threatened by data that contradicts them. This leads to "</a:t>
            </a:r>
            <a:r>
              <a:rPr lang="en-US" dirty="0" err="1"/>
              <a:t>HiPPO</a:t>
            </a:r>
            <a:r>
              <a:rPr lang="en-US" dirty="0"/>
              <a:t>" (Highest Paid Person's Opinion) decision-making, where data is ignored in favor of the boss's gut feeling. Overcoming this requires a top-down commitment to transparency and a willingness to be "wrong" if the data proves it.</a:t>
            </a:r>
            <a:endParaRPr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Analysis of Business Scenarios (Part A: Descriptive)</a:t>
            </a:r>
            <a:endParaRPr dirty="0"/>
          </a:p>
        </p:txBody>
      </p:sp>
      <p:sp>
        <p:nvSpPr>
          <p:cNvPr id="3" name="Content Placeholder 2"/>
          <p:cNvSpPr>
            <a:spLocks noGrp="1"/>
          </p:cNvSpPr>
          <p:nvPr>
            <p:ph idx="1"/>
          </p:nvPr>
        </p:nvSpPr>
        <p:spPr/>
        <p:txBody>
          <a:bodyPr/>
          <a:lstStyle/>
          <a:p>
            <a:r>
              <a:rPr lang="en-US" dirty="0"/>
              <a:t>Business scenario analysis usually falls into three categories. </a:t>
            </a:r>
            <a:r>
              <a:rPr lang="en-US" b="1" dirty="0"/>
              <a:t>Descriptive Analytics</a:t>
            </a:r>
            <a:r>
              <a:rPr lang="en-US" dirty="0"/>
              <a:t> asks "What happened?" This involves looking at past sales, historical costs, and inventory levels. It is the most common form of analysis and provides the "Rear-view Mirror" of the business. While it can't predict the future, it is essential for understanding the current health of the organization and identifying where problems first started.</a:t>
            </a:r>
            <a:endParaRPr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Analysis of Business Scenarios (Part B: Predictive &amp; Prescriptive)</a:t>
            </a:r>
            <a:endParaRPr dirty="0"/>
          </a:p>
        </p:txBody>
      </p:sp>
      <p:sp>
        <p:nvSpPr>
          <p:cNvPr id="3" name="Content Placeholder 2"/>
          <p:cNvSpPr>
            <a:spLocks noGrp="1"/>
          </p:cNvSpPr>
          <p:nvPr>
            <p:ph idx="1"/>
          </p:nvPr>
        </p:nvSpPr>
        <p:spPr/>
        <p:txBody>
          <a:bodyPr/>
          <a:lstStyle/>
          <a:p>
            <a:r>
              <a:rPr lang="en-US" b="1" dirty="0"/>
              <a:t>Predictive Analytics</a:t>
            </a:r>
            <a:r>
              <a:rPr lang="en-US" dirty="0"/>
              <a:t> asks "What might happen?" by using historical data to forecast future trends. </a:t>
            </a:r>
            <a:r>
              <a:rPr lang="en-US" b="1" dirty="0"/>
              <a:t>Prescriptive Analytics</a:t>
            </a:r>
            <a:r>
              <a:rPr lang="en-US" dirty="0"/>
              <a:t> takes it a step further by asking "What should we do?" This uses optimization algorithms to recommend the best course of action. For example, if a scenario predicts a shipping delay (Predictive), a prescriptive tool might automatically suggest re-routing the cargo through a different port to minimize the delay.</a:t>
            </a:r>
            <a:endParaRPr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Data Governance? (Part A)</a:t>
            </a:r>
            <a:endParaRPr dirty="0"/>
          </a:p>
        </p:txBody>
      </p:sp>
      <p:sp>
        <p:nvSpPr>
          <p:cNvPr id="3" name="Content Placeholder 2"/>
          <p:cNvSpPr>
            <a:spLocks noGrp="1"/>
          </p:cNvSpPr>
          <p:nvPr>
            <p:ph idx="1"/>
          </p:nvPr>
        </p:nvSpPr>
        <p:spPr/>
        <p:txBody>
          <a:bodyPr/>
          <a:lstStyle/>
          <a:p>
            <a:r>
              <a:rPr lang="en-US" dirty="0"/>
              <a:t>Data Governance is a collection of processes, roles, policies, standards, and metrics that ensure the effective and efficient use of information in enabling an organization to achieve its goals. It defines who can take what action, upon what data, in what situations, and using what methods. It is not just about IT; it is a business strategy that ensures data is treated as a high-value asset rather than a byproduct of operations.</a:t>
            </a:r>
            <a:endParaRPr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Data Governance? (Part B)</a:t>
            </a:r>
            <a:endParaRPr dirty="0"/>
          </a:p>
        </p:txBody>
      </p:sp>
      <p:sp>
        <p:nvSpPr>
          <p:cNvPr id="3" name="Content Placeholder 2"/>
          <p:cNvSpPr>
            <a:spLocks noGrp="1"/>
          </p:cNvSpPr>
          <p:nvPr>
            <p:ph idx="1"/>
          </p:nvPr>
        </p:nvSpPr>
        <p:spPr/>
        <p:txBody>
          <a:bodyPr/>
          <a:lstStyle/>
          <a:p>
            <a:r>
              <a:rPr lang="en-US" dirty="0"/>
              <a:t>A robust governance framework ensures that data is consistent and trustworthy. It prevents "Data Chaos," where different departments use different definitions for the same metric (e.g., Marketing and Finance defining "Profit" differently). By creating a standardized "Data Dictionary," governance ensures that everyone in the company is speaking the same language, which is essential for accurate reporting and regulatory compliance in a complex legal environment.</a:t>
            </a:r>
            <a:endParaRPr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Policies &amp; Procedures (Part A: Access Policies)</a:t>
            </a:r>
            <a:endParaRPr dirty="0"/>
          </a:p>
        </p:txBody>
      </p:sp>
      <p:sp>
        <p:nvSpPr>
          <p:cNvPr id="3" name="Content Placeholder 2"/>
          <p:cNvSpPr>
            <a:spLocks noGrp="1"/>
          </p:cNvSpPr>
          <p:nvPr>
            <p:ph idx="1"/>
          </p:nvPr>
        </p:nvSpPr>
        <p:spPr/>
        <p:txBody>
          <a:bodyPr/>
          <a:lstStyle/>
          <a:p>
            <a:r>
              <a:rPr lang="en-US" dirty="0"/>
              <a:t>Policies are the "laws" of data within an organization. Access Policies are the most critical, following the "Principle of Least Privilege." This means employees only have access to the data they absolutely need to perform their jobs. For example, a marketing intern should not have access to the company’s payroll data. These policies protect the organization from internal data breaches and accidental data leaks, which are statistically more common than external hacks.</a:t>
            </a:r>
            <a:endParaRPr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r-FR" dirty="0" err="1"/>
              <a:t>Policies</a:t>
            </a:r>
            <a:r>
              <a:rPr lang="fr-FR" dirty="0"/>
              <a:t> &amp; </a:t>
            </a:r>
            <a:r>
              <a:rPr lang="fr-FR" dirty="0" err="1"/>
              <a:t>Procedures</a:t>
            </a:r>
            <a:r>
              <a:rPr lang="fr-FR" dirty="0"/>
              <a:t> (Part B: Usage &amp; </a:t>
            </a:r>
            <a:r>
              <a:rPr lang="fr-FR" dirty="0" err="1"/>
              <a:t>Retention</a:t>
            </a:r>
            <a:r>
              <a:rPr lang="fr-FR" dirty="0"/>
              <a:t>)</a:t>
            </a:r>
            <a:endParaRPr dirty="0"/>
          </a:p>
        </p:txBody>
      </p:sp>
      <p:sp>
        <p:nvSpPr>
          <p:cNvPr id="3" name="Content Placeholder 2"/>
          <p:cNvSpPr>
            <a:spLocks noGrp="1"/>
          </p:cNvSpPr>
          <p:nvPr>
            <p:ph idx="1"/>
          </p:nvPr>
        </p:nvSpPr>
        <p:spPr/>
        <p:txBody>
          <a:bodyPr/>
          <a:lstStyle/>
          <a:p>
            <a:r>
              <a:rPr lang="en-US" dirty="0"/>
              <a:t>Usage and Retention procedures define how data should be handled and how long it should be kept. A "Retention Policy" might state that customer emails must be deleted 2 years after their last purchase to comply with privacy laws. Procedures also include "Data Lineage," which tracks the movement of data from its source to its destination, ensuring that if a number in a report looks wrong, the team can trace it back to see where it was altered.</a:t>
            </a:r>
            <a:endParaRPr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Roles &amp; Responsibilities (Part A: Data Owners)</a:t>
            </a:r>
            <a:endParaRPr dirty="0"/>
          </a:p>
        </p:txBody>
      </p:sp>
      <p:sp>
        <p:nvSpPr>
          <p:cNvPr id="3" name="Content Placeholder 2"/>
          <p:cNvSpPr>
            <a:spLocks noGrp="1"/>
          </p:cNvSpPr>
          <p:nvPr>
            <p:ph idx="1"/>
          </p:nvPr>
        </p:nvSpPr>
        <p:spPr/>
        <p:txBody>
          <a:bodyPr/>
          <a:lstStyle/>
          <a:p>
            <a:r>
              <a:rPr lang="en-US" dirty="0"/>
              <a:t>Every piece of data must have an "Owner," usually a high-level executive. For example, the CFO is the Data Owner for financial records. They are not the ones who fix the data, but they are "Accountable" for its accuracy and security. They define the business rules for the data and decide who should have access to it. Having clear ownership ensures that when a data quality issue arises, there is a clear path to resolution.</a:t>
            </a:r>
            <a:endParaRPr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Roles &amp; Responsibilities (Part B: Stewards &amp; Custodians)</a:t>
            </a:r>
            <a:endParaRPr dirty="0"/>
          </a:p>
        </p:txBody>
      </p:sp>
      <p:sp>
        <p:nvSpPr>
          <p:cNvPr id="3" name="Content Placeholder 2"/>
          <p:cNvSpPr>
            <a:spLocks noGrp="1"/>
          </p:cNvSpPr>
          <p:nvPr>
            <p:ph idx="1"/>
          </p:nvPr>
        </p:nvSpPr>
        <p:spPr/>
        <p:txBody>
          <a:bodyPr/>
          <a:lstStyle/>
          <a:p>
            <a:r>
              <a:rPr lang="en-US" b="1" dirty="0"/>
              <a:t>Data Stewards</a:t>
            </a:r>
            <a:r>
              <a:rPr lang="en-US" dirty="0"/>
              <a:t> are the "subject matter experts" who manage the data on a day-to-day basis. They fix errors, ensure compliance with policies, and act as a bridge between the business and IT. </a:t>
            </a:r>
            <a:r>
              <a:rPr lang="en-US" b="1" dirty="0"/>
              <a:t>Data Custodians</a:t>
            </a:r>
            <a:r>
              <a:rPr lang="en-US" dirty="0"/>
              <a:t> are usually IT staff who handle the technical side: the servers, the encryption, and the backups. Together, this triad of Owner, Steward, and Custodian ensures that data is secure, accurate, and available.</a:t>
            </a:r>
            <a:endParaRPr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Principles of Data Ethics (Part A: Intent &amp; Beneficence)</a:t>
            </a:r>
            <a:endParaRPr dirty="0"/>
          </a:p>
        </p:txBody>
      </p:sp>
      <p:sp>
        <p:nvSpPr>
          <p:cNvPr id="3" name="Content Placeholder 2"/>
          <p:cNvSpPr>
            <a:spLocks noGrp="1"/>
          </p:cNvSpPr>
          <p:nvPr>
            <p:ph idx="1"/>
          </p:nvPr>
        </p:nvSpPr>
        <p:spPr/>
        <p:txBody>
          <a:bodyPr/>
          <a:lstStyle/>
          <a:p>
            <a:r>
              <a:rPr lang="en-US" dirty="0"/>
              <a:t>Data Ethics refers to systemizing, defending, and recommending concepts of right and wrong conduct in relation to data. The first principle is Intent: Why are you collecting this data? Is it to help the user or to manipulate them? The second is Beneficence: The use of data should result in a net positive for society. In 2026, as AI becomes more pervasive, ethical data use is a major differentiator for brands that want to build long-term trust.</a:t>
            </a:r>
            <a:endParaRPr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Principles of Data Ethics (Part B: Fairness &amp; Bias)</a:t>
            </a:r>
            <a:endParaRPr dirty="0"/>
          </a:p>
        </p:txBody>
      </p:sp>
      <p:sp>
        <p:nvSpPr>
          <p:cNvPr id="3" name="Content Placeholder 2"/>
          <p:cNvSpPr>
            <a:spLocks noGrp="1"/>
          </p:cNvSpPr>
          <p:nvPr>
            <p:ph idx="1"/>
          </p:nvPr>
        </p:nvSpPr>
        <p:spPr/>
        <p:txBody>
          <a:bodyPr/>
          <a:lstStyle/>
          <a:p>
            <a:r>
              <a:rPr lang="en-US" dirty="0"/>
              <a:t>A major ethical concern is "Algorithmic Bias." If the data used to train an AI is biased (e.g., only containing data from one demographic), the resulting decisions will be discriminatory. Ethical data use requires companies to actively audit their data and algorithms to ensure fairness. This is especially critical in fields like hiring, lending, and law enforcement, where biased data can have devastating real-world consequences for marginalized groups.</a:t>
            </a:r>
            <a:r>
              <a:rPr dirty="0"/>
              <a:t>.</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Privacy &amp; Confidentiality (Part A: Privacy Rights)</a:t>
            </a:r>
            <a:endParaRPr dirty="0"/>
          </a:p>
        </p:txBody>
      </p:sp>
      <p:sp>
        <p:nvSpPr>
          <p:cNvPr id="3" name="Content Placeholder 2"/>
          <p:cNvSpPr>
            <a:spLocks noGrp="1"/>
          </p:cNvSpPr>
          <p:nvPr>
            <p:ph idx="1"/>
          </p:nvPr>
        </p:nvSpPr>
        <p:spPr/>
        <p:txBody>
          <a:bodyPr/>
          <a:lstStyle/>
          <a:p>
            <a:r>
              <a:rPr lang="en-US" dirty="0"/>
              <a:t>Privacy is the right of an individual to be left alone and to have control over their personal information. In a data-driven world, this is a challenge. Organizations must implement "Privacy by Design," meaning that privacy features are built into every product from the very first line of code. This includes giving users the ability to opt-out of tracking and providing clear, non-legalese explanations of what data is being collected and why.</a:t>
            </a:r>
            <a:endParaRPr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Privacy &amp; Confidentiality (Part B: Confidentiality Methods)</a:t>
            </a:r>
            <a:endParaRPr dirty="0"/>
          </a:p>
        </p:txBody>
      </p:sp>
      <p:sp>
        <p:nvSpPr>
          <p:cNvPr id="3" name="Content Placeholder 2"/>
          <p:cNvSpPr>
            <a:spLocks noGrp="1"/>
          </p:cNvSpPr>
          <p:nvPr>
            <p:ph idx="1"/>
          </p:nvPr>
        </p:nvSpPr>
        <p:spPr/>
        <p:txBody>
          <a:bodyPr/>
          <a:lstStyle/>
          <a:p>
            <a:r>
              <a:rPr lang="en-US" dirty="0"/>
              <a:t>Confidentiality is the company's obligation to protect the private data it has collected. This is achieved through technical means like "Encryption at Rest" (protecting stored data) and "Encryption in Transit" (protecting data as it moves). Another method is "Data Masking" or "Anonymization," where names and IDs are replaced with random strings so that researchers can analyze the data without ever knowing the actual identity of the individuals involved.</a:t>
            </a:r>
            <a:endParaRPr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Transparency &amp; Accountability (Part A)</a:t>
            </a:r>
            <a:endParaRPr dirty="0"/>
          </a:p>
        </p:txBody>
      </p:sp>
      <p:sp>
        <p:nvSpPr>
          <p:cNvPr id="3" name="Content Placeholder 2"/>
          <p:cNvSpPr>
            <a:spLocks noGrp="1"/>
          </p:cNvSpPr>
          <p:nvPr>
            <p:ph idx="1"/>
          </p:nvPr>
        </p:nvSpPr>
        <p:spPr/>
        <p:txBody>
          <a:bodyPr/>
          <a:lstStyle/>
          <a:p>
            <a:r>
              <a:rPr lang="en-US" dirty="0"/>
              <a:t>Transparency means being open and honest about your data practices. It involves publishing clear privacy policies and notifying users if their data is involved in a breach. When an organization is transparent, it builds a "Trust Surplus" with its customers. If a company hides its data practices and they are later revealed by a whistleblower or a hack, the damage to the brand’s reputation can be irreversible and lead to total business failure.</a:t>
            </a:r>
            <a:endParaRPr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Transparency &amp; Accountability (Part B)</a:t>
            </a:r>
            <a:endParaRPr dirty="0"/>
          </a:p>
        </p:txBody>
      </p:sp>
      <p:sp>
        <p:nvSpPr>
          <p:cNvPr id="3" name="Content Placeholder 2"/>
          <p:cNvSpPr>
            <a:spLocks noGrp="1"/>
          </p:cNvSpPr>
          <p:nvPr>
            <p:ph idx="1"/>
          </p:nvPr>
        </p:nvSpPr>
        <p:spPr/>
        <p:txBody>
          <a:bodyPr/>
          <a:lstStyle/>
          <a:p>
            <a:r>
              <a:rPr lang="en-US" dirty="0"/>
              <a:t>Accountability means that the organization must be answerable for the consequences of its data processing. If an automated system makes a mistake that harms a customer, the company cannot simply "blame the algorithm." There must be a human-in-the-loop who is responsible for the system's output. Accountability also includes regular third-party audits to prove that the company is actually following the ethical and legal standards it claims to uphold.</a:t>
            </a:r>
            <a:endParaRPr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Regulatory Compliance (Part A: GDPR &amp; CCPA)</a:t>
            </a:r>
            <a:endParaRPr dirty="0"/>
          </a:p>
        </p:txBody>
      </p:sp>
      <p:sp>
        <p:nvSpPr>
          <p:cNvPr id="3" name="Content Placeholder 2"/>
          <p:cNvSpPr>
            <a:spLocks noGrp="1"/>
          </p:cNvSpPr>
          <p:nvPr>
            <p:ph idx="1"/>
          </p:nvPr>
        </p:nvSpPr>
        <p:spPr/>
        <p:txBody>
          <a:bodyPr/>
          <a:lstStyle/>
          <a:p>
            <a:r>
              <a:rPr lang="en-US" dirty="0"/>
              <a:t>Regulatory compliance is the act of adhering to laws and regulations regarding data. The General Data Protection Regulation (GDPR) in the EU is the most famous, introducing the "Right to be Forgotten." The California Consumer Privacy Act (CCPA) offers similar protections in the US. These laws have "Extraterritorial Reach," meaning if a company in India has a single customer in France, they must comply with GDPR or face fines up to 4% of their global turnover.</a:t>
            </a:r>
            <a:endParaRPr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Regulatory Compliance (Part B: The Global Landscape)</a:t>
            </a:r>
            <a:endParaRPr dirty="0"/>
          </a:p>
        </p:txBody>
      </p:sp>
      <p:sp>
        <p:nvSpPr>
          <p:cNvPr id="3" name="Content Placeholder 2"/>
          <p:cNvSpPr>
            <a:spLocks noGrp="1"/>
          </p:cNvSpPr>
          <p:nvPr>
            <p:ph idx="1"/>
          </p:nvPr>
        </p:nvSpPr>
        <p:spPr/>
        <p:txBody>
          <a:bodyPr/>
          <a:lstStyle/>
          <a:p>
            <a:r>
              <a:rPr lang="en-US" dirty="0"/>
              <a:t>As of 2026, most nations have implemented their own version of data protection laws (like India's DPDP Act). This creates a "Compliance Patchwork" that businesses must navigate. Compliance is not a one-time project but an ongoing operational requirement. It requires constant monitoring of the legal landscape and the ability to update data systems quickly to meet new requirements, such as stricter rules on the use of biometric data or facial recognition.</a:t>
            </a:r>
            <a:endParaRPr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Building a Culture of Responsibility (Part A)</a:t>
            </a:r>
            <a:endParaRPr dirty="0"/>
          </a:p>
        </p:txBody>
      </p:sp>
      <p:sp>
        <p:nvSpPr>
          <p:cNvPr id="3" name="Content Placeholder 2"/>
          <p:cNvSpPr>
            <a:spLocks noGrp="1"/>
          </p:cNvSpPr>
          <p:nvPr>
            <p:ph idx="1"/>
          </p:nvPr>
        </p:nvSpPr>
        <p:spPr/>
        <p:txBody>
          <a:bodyPr/>
          <a:lstStyle/>
          <a:p>
            <a:r>
              <a:rPr lang="en-US" dirty="0"/>
              <a:t>A culture of responsible data use starts at the top. If executives treat data as something to be "mined" at all costs, employees will follow suit. Building a responsible culture means training every employee—from the front desk to the boardroom—on the importance of data ethics and privacy. It involves rewarding employees who identify potential data risks and creating a "Psychological Safety" where people feel comfortable questioning unethical data practices.</a:t>
            </a:r>
            <a:endParaRPr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Building a Culture of Responsibility (Part B)</a:t>
            </a:r>
            <a:endParaRPr dirty="0"/>
          </a:p>
        </p:txBody>
      </p:sp>
      <p:sp>
        <p:nvSpPr>
          <p:cNvPr id="3" name="Content Placeholder 2"/>
          <p:cNvSpPr>
            <a:spLocks noGrp="1"/>
          </p:cNvSpPr>
          <p:nvPr>
            <p:ph idx="1"/>
          </p:nvPr>
        </p:nvSpPr>
        <p:spPr/>
        <p:txBody>
          <a:bodyPr/>
          <a:lstStyle/>
          <a:p>
            <a:r>
              <a:rPr lang="en-US" dirty="0"/>
              <a:t>Finally, a responsible culture is one that views data ethics as a "Competitive Advantage" rather than a "Compliance Burden." In a future where consumers are increasingly wary of how their data is used, companies that can prove they are responsible stewards of information will win the most loyal customers. It transforms data from a technical or legal issue into a core part of the brand’s identity and mission in the digital age.</a:t>
            </a:r>
            <a:endParaRPr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Thank You</a:t>
            </a:r>
          </a:p>
        </p:txBody>
      </p:sp>
      <p:sp>
        <p:nvSpPr>
          <p:cNvPr id="3" name="Content Placeholder 2"/>
          <p:cNvSpPr>
            <a:spLocks noGrp="1"/>
          </p:cNvSpPr>
          <p:nvPr>
            <p:ph idx="1"/>
          </p:nvPr>
        </p:nvSpPr>
        <p:spPr/>
        <p:txBody>
          <a:bodyPr/>
          <a:lstStyle/>
          <a:p>
            <a:r>
              <a:t>Thank You for Your Time!</a:t>
            </a:r>
          </a:p>
        </p:txBody>
      </p:sp>
    </p:spTree>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48</TotalTime>
  <Words>5522</Words>
  <Application>Microsoft Office PowerPoint</Application>
  <PresentationFormat>On-screen Show (4:3)</PresentationFormat>
  <Paragraphs>124</Paragraphs>
  <Slides>60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60</vt:i4>
      </vt:variant>
    </vt:vector>
  </HeadingPairs>
  <TitlesOfParts>
    <vt:vector size="64" baseType="lpstr">
      <vt:lpstr>Arial</vt:lpstr>
      <vt:lpstr>Century Gothic</vt:lpstr>
      <vt:lpstr>Wingdings 3</vt:lpstr>
      <vt:lpstr>Wisp</vt:lpstr>
      <vt:lpstr>The Intersection of Information Technology, Data Strategy, and Business Analysis</vt:lpstr>
      <vt:lpstr>Fundamentals of IT (Part A: The Infrastructure)</vt:lpstr>
      <vt:lpstr>Fundamentals of IT (Part B: Networking &amp; Data)</vt:lpstr>
      <vt:lpstr>Role of IT in Business Operations (Part A: Efficiency)</vt:lpstr>
      <vt:lpstr>Role of IT in Business Operations (Part B: Collaboration)</vt:lpstr>
      <vt:lpstr>Business Systems: ERP (Part A)</vt:lpstr>
      <vt:lpstr>Business Systems: CRM (Part B)</vt:lpstr>
      <vt:lpstr>IT and Business Strategy (Part A: Alignment)</vt:lpstr>
      <vt:lpstr>IT and Business Strategy (Part B: Digital Transformation)</vt:lpstr>
      <vt:lpstr>Understanding Data Types (Part A: Structured)</vt:lpstr>
      <vt:lpstr>Understanding Data Types (Part B: Unstructured &amp; Semi-structured)</vt:lpstr>
      <vt:lpstr>Common Data Sources (Part A: Internal &amp; External)</vt:lpstr>
      <vt:lpstr>Common Data Sources (Part B: Databases &amp; APIs)</vt:lpstr>
      <vt:lpstr>Data Collection Methods (Part A: Primary Methods)</vt:lpstr>
      <vt:lpstr>Data Collection Methods (Part B: Secondary &amp; Automated)</vt:lpstr>
      <vt:lpstr>Data Lifecycle Management (Part A: Creation to Usage)</vt:lpstr>
      <vt:lpstr>Data Lifecycle Management (Part B: Archiving to Deletion)</vt:lpstr>
      <vt:lpstr>Data Quality &amp; Integrity (Part A: Defining Quality)</vt:lpstr>
      <vt:lpstr>Data Quality &amp; Integrity (Part B: Ensuring Integrity)</vt:lpstr>
      <vt:lpstr>The Business Analyst (Part A: Definition)</vt:lpstr>
      <vt:lpstr>The Business Analyst (Part B: Responsibilities)</vt:lpstr>
      <vt:lpstr>Key Skills for a BA (Part A: Technical Skills)</vt:lpstr>
      <vt:lpstr>Key Skills for a BA (Part B: Soft Skills)</vt:lpstr>
      <vt:lpstr>Business Analysis Methodologies (Part A: Waterfall)</vt:lpstr>
      <vt:lpstr>Business Analysis Methodologies (Part B: Agile)</vt:lpstr>
      <vt:lpstr>Stakeholder Management (Part A: Identification)</vt:lpstr>
      <vt:lpstr>Stakeholder Management (Part B: Engagement Strategies)</vt:lpstr>
      <vt:lpstr>Raw Data vs. Processed Information (Part A)</vt:lpstr>
      <vt:lpstr>Raw Data vs. Processed Information (Part B)</vt:lpstr>
      <vt:lpstr>The Transformation Process (Part A: Data to Information)</vt:lpstr>
      <vt:lpstr>The Transformation Process (Part B: Information to Knowledge)</vt:lpstr>
      <vt:lpstr>Value of Information in Decision Making (Part A)</vt:lpstr>
      <vt:lpstr>Value of Information in Decision Making (Part B)</vt:lpstr>
      <vt:lpstr>Principles of DDDM (Part A: Objectivity)</vt:lpstr>
      <vt:lpstr>Principles of DDDM (Part B: Accessibility &amp; Iteration)</vt:lpstr>
      <vt:lpstr>Benefits of Data-Driven Decisions (Part A)</vt:lpstr>
      <vt:lpstr>Benefits of Data-Driven Decisions (Part B)</vt:lpstr>
      <vt:lpstr>Steps in the DDDM Process (Part A: 1-3)</vt:lpstr>
      <vt:lpstr>Steps in the DDDM Process (Part B: 4-6)</vt:lpstr>
      <vt:lpstr>Challenges &amp; Pitfalls in DDDM (Part A: Data Quality)</vt:lpstr>
      <vt:lpstr>Challenges &amp; Pitfalls in DDDM (Part B: Cultural Resistance)</vt:lpstr>
      <vt:lpstr>Analysis of Business Scenarios (Part A: Descriptive)</vt:lpstr>
      <vt:lpstr>Analysis of Business Scenarios (Part B: Predictive &amp; Prescriptive)</vt:lpstr>
      <vt:lpstr>What is Data Governance? (Part A)</vt:lpstr>
      <vt:lpstr>What is Data Governance? (Part B)</vt:lpstr>
      <vt:lpstr>Policies &amp; Procedures (Part A: Access Policies)</vt:lpstr>
      <vt:lpstr>Policies &amp; Procedures (Part B: Usage &amp; Retention)</vt:lpstr>
      <vt:lpstr>Roles &amp; Responsibilities (Part A: Data Owners)</vt:lpstr>
      <vt:lpstr>Roles &amp; Responsibilities (Part B: Stewards &amp; Custodians)</vt:lpstr>
      <vt:lpstr>Principles of Data Ethics (Part A: Intent &amp; Beneficence)</vt:lpstr>
      <vt:lpstr>Principles of Data Ethics (Part B: Fairness &amp; Bias)</vt:lpstr>
      <vt:lpstr>Privacy &amp; Confidentiality (Part A: Privacy Rights)</vt:lpstr>
      <vt:lpstr>Privacy &amp; Confidentiality (Part B: Confidentiality Methods)</vt:lpstr>
      <vt:lpstr>Transparency &amp; Accountability (Part A)</vt:lpstr>
      <vt:lpstr>Transparency &amp; Accountability (Part B)</vt:lpstr>
      <vt:lpstr>Regulatory Compliance (Part A: GDPR &amp; CCPA)</vt:lpstr>
      <vt:lpstr>Regulatory Compliance (Part B: The Global Landscape)</vt:lpstr>
      <vt:lpstr>Building a Culture of Responsibility (Part A)</vt:lpstr>
      <vt:lpstr>Building a Culture of Responsibility (Part B)</vt:lpstr>
      <vt:lpstr>Thank You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Amit Bikram Mishra</cp:lastModifiedBy>
  <cp:revision>3</cp:revision>
  <dcterms:created xsi:type="dcterms:W3CDTF">2013-01-27T09:14:16Z</dcterms:created>
  <dcterms:modified xsi:type="dcterms:W3CDTF">2026-02-26T13:44:15Z</dcterms:modified>
  <cp:category/>
</cp:coreProperties>
</file>